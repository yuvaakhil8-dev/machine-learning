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33"/>
  </p:notesMasterIdLst>
  <p:sldIdLst>
    <p:sldId id="260" r:id="rId2"/>
    <p:sldId id="257" r:id="rId3"/>
    <p:sldId id="271" r:id="rId4"/>
    <p:sldId id="259" r:id="rId5"/>
    <p:sldId id="272" r:id="rId6"/>
    <p:sldId id="273" r:id="rId7"/>
    <p:sldId id="274" r:id="rId8"/>
    <p:sldId id="275" r:id="rId9"/>
    <p:sldId id="276" r:id="rId10"/>
    <p:sldId id="278" r:id="rId11"/>
    <p:sldId id="277" r:id="rId12"/>
    <p:sldId id="279" r:id="rId13"/>
    <p:sldId id="280" r:id="rId14"/>
    <p:sldId id="282" r:id="rId15"/>
    <p:sldId id="283" r:id="rId16"/>
    <p:sldId id="281" r:id="rId17"/>
    <p:sldId id="258" r:id="rId18"/>
    <p:sldId id="284" r:id="rId19"/>
    <p:sldId id="285" r:id="rId20"/>
    <p:sldId id="286" r:id="rId21"/>
    <p:sldId id="287" r:id="rId22"/>
    <p:sldId id="289" r:id="rId23"/>
    <p:sldId id="290" r:id="rId24"/>
    <p:sldId id="294" r:id="rId25"/>
    <p:sldId id="291" r:id="rId26"/>
    <p:sldId id="292" r:id="rId27"/>
    <p:sldId id="293" r:id="rId28"/>
    <p:sldId id="295" r:id="rId29"/>
    <p:sldId id="264" r:id="rId30"/>
    <p:sldId id="297" r:id="rId31"/>
    <p:sldId id="29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66D0409-D2BD-4416-AF7D-E35E9D5543A2}">
          <p14:sldIdLst>
            <p14:sldId id="260"/>
            <p14:sldId id="257"/>
            <p14:sldId id="271"/>
            <p14:sldId id="259"/>
            <p14:sldId id="272"/>
            <p14:sldId id="273"/>
            <p14:sldId id="274"/>
            <p14:sldId id="275"/>
            <p14:sldId id="276"/>
            <p14:sldId id="278"/>
            <p14:sldId id="277"/>
            <p14:sldId id="279"/>
            <p14:sldId id="280"/>
          </p14:sldIdLst>
        </p14:section>
        <p14:section name="Untitled Section" id="{D266F099-1169-46D2-B60E-D71D76B87886}">
          <p14:sldIdLst>
            <p14:sldId id="282"/>
            <p14:sldId id="283"/>
            <p14:sldId id="281"/>
            <p14:sldId id="258"/>
            <p14:sldId id="284"/>
            <p14:sldId id="285"/>
            <p14:sldId id="286"/>
            <p14:sldId id="287"/>
            <p14:sldId id="289"/>
            <p14:sldId id="290"/>
            <p14:sldId id="294"/>
            <p14:sldId id="291"/>
            <p14:sldId id="292"/>
            <p14:sldId id="293"/>
            <p14:sldId id="295"/>
            <p14:sldId id="264"/>
            <p14:sldId id="297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51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0DC79-F7B2-4289-B247-A77B6BCF048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C9CB4-BA0C-4249-9A6A-F5F5F23AD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52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DEDFF660-44B9-7885-5DCC-4C9555F83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548642"/>
            <a:ext cx="7342974" cy="3635797"/>
          </a:xfrm>
        </p:spPr>
        <p:txBody>
          <a:bodyPr lIns="0" tIns="0" rIns="0" bIns="0"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248" y="4473553"/>
            <a:ext cx="6534481" cy="1545336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7BA9381-262A-B17F-46F5-9F3C97BC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248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ABCDF71-65BF-6C49-105D-D348EF41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F2AA5-D3F6-DAFA-E665-DEFCE26A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Freeform: Shape 3">
            <a:extLst>
              <a:ext uri="{FF2B5EF4-FFF2-40B4-BE49-F238E27FC236}">
                <a16:creationId xmlns:a16="http://schemas.microsoft.com/office/drawing/2014/main" id="{FA1FE77D-9B4D-B4FC-88E1-9ED84E982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4C3941-2FC1-3C96-F1CD-DAD18E8BF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926EEB0A-F27C-6546-05A8-C0556777D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80570A-A447-B5FC-F358-DE1603621B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248" y="6054512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06533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>
            <a:extLst>
              <a:ext uri="{FF2B5EF4-FFF2-40B4-BE49-F238E27FC236}">
                <a16:creationId xmlns:a16="http://schemas.microsoft.com/office/drawing/2014/main" id="{EBD2A05F-7D97-AC92-8751-B2038D22C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854239"/>
            <a:ext cx="7833895" cy="3592629"/>
          </a:xfrm>
        </p:spPr>
        <p:txBody>
          <a:bodyPr lIns="0" tIns="0" rIns="0"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17138"/>
            <a:ext cx="7376609" cy="1014984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A9F20F-0C3A-1397-9D15-E8FAB191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1D99E05-D2CE-BA6C-1B55-023B8157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7487FF-71BE-78AA-BA49-FBF87B6E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D4F49636-34EE-9DB1-7F2D-70300BC4B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5EC4A581-A833-A254-3039-BDBCA788B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FFED0BB-EF13-651B-6B3F-61EAF5473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4CA4762-63F5-8110-8D25-0FE369BADE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225" y="5684986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65550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13">
            <a:extLst>
              <a:ext uri="{FF2B5EF4-FFF2-40B4-BE49-F238E27FC236}">
                <a16:creationId xmlns:a16="http://schemas.microsoft.com/office/drawing/2014/main" id="{9A6F5649-82E9-4EB0-F4A3-CEB7F5198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122846" y="478884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3732C8E-A89F-3C9F-4630-F690E7E98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631" y="3949841"/>
            <a:ext cx="1805555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9924" y="1318302"/>
            <a:ext cx="8592152" cy="2621154"/>
          </a:xfrm>
        </p:spPr>
        <p:txBody>
          <a:bodyPr lIns="0" tIns="0" rIns="0"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01923" y="4039647"/>
            <a:ext cx="7588155" cy="14140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9A64E4D-5F8D-89DE-6750-9DB3E892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AF7A5D5-9D2E-55B0-B6EC-4B52019A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0C486168-ACCE-2B30-5AA9-299E5A43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7" name="Freeform: Shape 3">
            <a:extLst>
              <a:ext uri="{FF2B5EF4-FFF2-40B4-BE49-F238E27FC236}">
                <a16:creationId xmlns:a16="http://schemas.microsoft.com/office/drawing/2014/main" id="{E4CDDEFC-E3FC-1135-8E92-3A076889E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CB53BEE4-B0F1-21AC-C432-CD02ED97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99924" y="5630779"/>
            <a:ext cx="1969280" cy="1234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F6DD921-0CB1-DD3B-05FF-590B8632B8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3082" y="5504202"/>
            <a:ext cx="2465836" cy="314757"/>
          </a:xfr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36391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8E620CC0-DC30-91C7-8486-4145213E0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615" y="3538558"/>
            <a:ext cx="11418925" cy="151499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7" name="Subtitle 8">
            <a:extLst>
              <a:ext uri="{FF2B5EF4-FFF2-40B4-BE49-F238E27FC236}">
                <a16:creationId xmlns:a16="http://schemas.microsoft.com/office/drawing/2014/main" id="{DD16B2CF-CBE4-0CAA-4D1A-87BA832334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5616" y="5136147"/>
            <a:ext cx="11418926" cy="99319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9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id="{DEC0C38B-6B43-AD26-4095-760B8B70DC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" y="1912129"/>
            <a:ext cx="1925575" cy="1530062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8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id="{1BB82094-7EB6-EC6F-84DC-9D44135FA4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944486" y="-4"/>
            <a:ext cx="2247514" cy="1925578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D6268BB-B547-A20C-3B9E-187F14FE0C14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9EC6F98-8B99-D984-46BE-AB3745B39CF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C6EC5DF-3303-F1EE-3D99-530E70BC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reeform: Shape 3">
            <a:extLst>
              <a:ext uri="{FF2B5EF4-FFF2-40B4-BE49-F238E27FC236}">
                <a16:creationId xmlns:a16="http://schemas.microsoft.com/office/drawing/2014/main" id="{AAFE7D64-F404-CB16-B1A6-2632D9817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716025" y="1925895"/>
            <a:ext cx="1496841" cy="1543709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00AEDDFB-A768-7BB7-5203-76DF807E1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-1"/>
            <a:ext cx="1925576" cy="19255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B22C943-07E1-D41A-22B9-A7C40FF5C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925574" y="0"/>
            <a:ext cx="2041601" cy="189392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AD1606-3704-1AD8-6FD1-CC0ED9964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1053" y="3127434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49481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3">
            <a:extLst>
              <a:ext uri="{FF2B5EF4-FFF2-40B4-BE49-F238E27FC236}">
                <a16:creationId xmlns:a16="http://schemas.microsoft.com/office/drawing/2014/main" id="{35B62877-1ECE-C895-2628-D70241474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2" y="4575872"/>
            <a:ext cx="2281484" cy="228212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2BE707F-C731-EA4B-19D9-D329BD4A15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1743" y="1379047"/>
            <a:ext cx="8913982" cy="2508792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id="{630C0ABC-2179-00DC-A363-2C8C306494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1743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1D21C21-739A-A82A-8977-42F691559C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01743" y="5635721"/>
            <a:ext cx="2005584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E7DFF57B-01B8-7AE5-59D6-1EA01068C2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281486"/>
            <a:ext cx="2281484" cy="229486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60987CD7-1E61-07D2-B179-5524B68E1E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28326" y="4575873"/>
            <a:ext cx="2663674" cy="2282127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E3EDE68-DC03-72CA-8812-032BBE8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2B5A2C-FD03-F122-C8E4-B6CB4EC4861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46414389-5BC5-00A3-92BE-5E87E7C9E3BF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B492ADB2-587E-B1A9-AEBC-1F6E07F2E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3">
            <a:extLst>
              <a:ext uri="{FF2B5EF4-FFF2-40B4-BE49-F238E27FC236}">
                <a16:creationId xmlns:a16="http://schemas.microsoft.com/office/drawing/2014/main" id="{92E441E4-4327-1C3A-4D55-41FD3ECB9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281484" y="0"/>
            <a:ext cx="2281484" cy="229486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56496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57C928DF-3B7B-6F49-CF7D-FDEF5C3A9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910516" y="4588452"/>
            <a:ext cx="2281484" cy="226954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E48CD5-347B-4324-FD33-02D324DDB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7305" y="1379047"/>
            <a:ext cx="8913982" cy="2508792"/>
          </a:xfrm>
        </p:spPr>
        <p:txBody>
          <a:bodyPr lIns="0" tIns="0" rIns="0" bIns="0">
            <a:noAutofit/>
          </a:bodyPr>
          <a:lstStyle>
            <a:lvl1pPr algn="r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8">
            <a:extLst>
              <a:ext uri="{FF2B5EF4-FFF2-40B4-BE49-F238E27FC236}">
                <a16:creationId xmlns:a16="http://schemas.microsoft.com/office/drawing/2014/main" id="{5153DC17-0242-8E4C-6962-ED318C76B7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305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DED0A95-69FB-B981-619F-C8F0BD1FF7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75703" y="5712286"/>
            <a:ext cx="2005584" cy="314757"/>
          </a:xfrm>
        </p:spPr>
        <p:txBody>
          <a:bodyPr>
            <a:normAutofit/>
          </a:bodyPr>
          <a:lstStyle>
            <a:lvl1pPr algn="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15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id="{CEF89FC2-74BC-6AFF-62E2-5E5247C945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4575873"/>
            <a:ext cx="2663674" cy="2282127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0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id="{DF4643A0-B24C-4527-7AF0-464401E07B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10516" y="2294226"/>
            <a:ext cx="2281484" cy="228212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B675A4-D9B6-583C-33B5-791287E060B8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C062E25-7E66-344C-A3E5-A5CE410A745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A8CDE8-23F5-5E35-E043-E2792B37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13F359CB-6E7F-AB72-12C6-FE1FA423F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10514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F10E236-0BF6-76AD-46AB-3DCC71CA3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7425" y="640"/>
            <a:ext cx="2281484" cy="228148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81938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05CB43-6584-B990-A6AF-D56EDAC94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6D05A-80E9-C912-631C-020FB6C7B7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4065" y="355600"/>
            <a:ext cx="8201660" cy="2837603"/>
          </a:xfrm>
        </p:spPr>
        <p:txBody>
          <a:bodyPr lIns="0" tIns="0" rIns="0" bIns="0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31E9181-3767-0683-848A-A04AD81103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3265" y="3429000"/>
            <a:ext cx="6982460" cy="1100727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5F2E121-23DB-EE92-5A6F-9C14E579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1E89D-E6E4-4258-C5B2-951DE629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B216FA-3264-2E8A-CB95-2A77936F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7C57ED-577F-5153-1162-EAF7FD33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ABEA6E9-B107-316F-C7B8-6EAC13792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-1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849066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37B8F7-E751-7CEB-6DD9-B42C2FD72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1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F57799BE-E2E8-5386-4E50-78667C4C3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85" y="355600"/>
            <a:ext cx="8201660" cy="2837603"/>
          </a:xfrm>
        </p:spPr>
        <p:txBody>
          <a:bodyPr lIns="0" tIns="0" rIns="0" bIns="0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9">
            <a:extLst>
              <a:ext uri="{FF2B5EF4-FFF2-40B4-BE49-F238E27FC236}">
                <a16:creationId xmlns:a16="http://schemas.microsoft.com/office/drawing/2014/main" id="{2C3C4BD9-EA24-4419-395F-2ED13A1305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8085" y="3465211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B1E7BAB-714E-16DE-838B-DD3C9444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300E782-589F-8882-4679-6D4626FE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AEB95B-6A8F-4EAD-1687-68BF0E2A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Freeform: Shape 1">
            <a:extLst>
              <a:ext uri="{FF2B5EF4-FFF2-40B4-BE49-F238E27FC236}">
                <a16:creationId xmlns:a16="http://schemas.microsoft.com/office/drawing/2014/main" id="{76378701-6465-5DA7-D893-B28EDACEE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9910513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0A5B844E-3667-B2D2-8C28-BCDE9C01D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10514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41415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1">
            <a:extLst>
              <a:ext uri="{FF2B5EF4-FFF2-40B4-BE49-F238E27FC236}">
                <a16:creationId xmlns:a16="http://schemas.microsoft.com/office/drawing/2014/main" id="{C9D17E65-B7F6-BBA0-5C0A-13E21E39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693132" y="2338938"/>
            <a:ext cx="4498868" cy="4519061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CA2531A-F5B4-E8B8-D412-65D3B1F3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99756"/>
            <a:ext cx="1958243" cy="19582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CE797FB8-5B85-3C23-4767-E540B7810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5170" y="355600"/>
            <a:ext cx="8201660" cy="2837603"/>
          </a:xfrm>
        </p:spPr>
        <p:txBody>
          <a:bodyPr lIns="0" tIns="0" rIns="0" bIns="0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id="{D5D77306-9032-C768-9BC4-5AB9875D5F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4770" y="3475786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DE02714-7C27-8D41-51B3-A9C407DB9B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DA94B75-E618-5656-FC34-228692F1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27BC14-D194-8A9A-DE2E-F8CA4D63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86971F90-0FB8-A46A-78E4-2016819D6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935704"/>
            <a:ext cx="1958241" cy="1958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796413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,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E94A473-0E2F-855B-9BE9-646566F82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1F1861-7394-91D1-3FB3-1C63CAD6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4FA9C6-3F37-9A7B-AE46-A7F94918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E05E-CA4A-59B6-994A-26ED66D7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Straight Connector 96">
            <a:extLst>
              <a:ext uri="{FF2B5EF4-FFF2-40B4-BE49-F238E27FC236}">
                <a16:creationId xmlns:a16="http://schemas.microsoft.com/office/drawing/2014/main" id="{E6848015-40FC-D2CF-56EF-7B2B82A9A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9649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9">
            <a:extLst>
              <a:ext uri="{FF2B5EF4-FFF2-40B4-BE49-F238E27FC236}">
                <a16:creationId xmlns:a16="http://schemas.microsoft.com/office/drawing/2014/main" id="{172BA788-1AE9-2B5A-C0B2-C16236F3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741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D0B09B15-3563-712C-6E2E-C89B5AF82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9649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1">
            <a:extLst>
              <a:ext uri="{FF2B5EF4-FFF2-40B4-BE49-F238E27FC236}">
                <a16:creationId xmlns:a16="http://schemas.microsoft.com/office/drawing/2014/main" id="{44CF4C88-92DD-301D-210A-6C1B202D7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741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8715CCF-7A7B-5AAC-D071-DE008B249E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96496" y="248925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DA9011B5-6D01-3AF0-99E4-6A004B6CA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649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9ABDEC3-4BEB-A518-046E-129B7D9E25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77416" y="248855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34B40045-4DCE-76DA-58AD-223A1C0191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7741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33B2306-2357-FD4D-9A71-A8DD1010DE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496" y="438408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E04F7AE4-DD5E-CA7A-FB08-B802AEDD04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649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515354B-8178-69A7-B299-C539A6E3E8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77416" y="438338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E2E62BAE-F951-3097-780E-D7E06FD34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7741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6799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E94A473-0E2F-855B-9BE9-646566F82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1F1861-7394-91D1-3FB3-1C63CAD6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5C0DFC7-33FF-AA73-3FFC-C978E3721F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00425" y="2429164"/>
            <a:ext cx="7947574" cy="3435927"/>
          </a:xfrm>
        </p:spPr>
        <p:txBody>
          <a:bodyPr lIns="0" tIns="0" rIns="0" bIns="0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4FA9C6-3F37-9A7B-AE46-A7F94918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E05E-CA4A-59B6-994A-26ED66D7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73687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FCF6D2-D22A-3276-796E-755059E35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380B01-FB3F-7DD6-224D-B483747E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D003242D-37DC-762E-1EA1-8B102E5213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3999" y="1486438"/>
            <a:ext cx="10504000" cy="4378654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E62007A-8538-D139-3C5B-8FB017339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95DC02-FAD1-051C-FC0A-4556D73C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29D71B-FE0E-CC62-38E3-7279774AA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76AF1C-25E0-EBF0-0B1D-FA5F7D770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E189A-D955-6A7F-2779-ED5B5EB97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785073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9C39C3C5-BCCF-9F66-0E64-6811D986BB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799" y="407712"/>
            <a:ext cx="11554400" cy="582798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39168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5622" y="914399"/>
            <a:ext cx="9900753" cy="1358269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B85B9BDD-2F0E-42F1-CE42-7711FBBB94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2636196"/>
            <a:ext cx="9900753" cy="322889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1AE7160-8A18-8762-67F8-C71E839B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2296B3-7CBF-6881-5581-81D52C0F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346D7C-F120-5968-2FC4-2F9B5BC6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Oval 6">
            <a:extLst>
              <a:ext uri="{FF2B5EF4-FFF2-40B4-BE49-F238E27FC236}">
                <a16:creationId xmlns:a16="http://schemas.microsoft.com/office/drawing/2014/main" id="{FEAE54C9-349B-EEFD-01BA-52EF837A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44000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9433BDD-AE57-6F96-8693-7E2D491AC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89482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269FA094-1A8C-FF3E-020B-BE5688AA4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2421861" y="4258339"/>
            <a:ext cx="177800" cy="50215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54884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8FCA36-95FF-0CF9-4C71-A29C3BB46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352978" y="5094751"/>
            <a:ext cx="5839022" cy="17632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A648C6-FC37-4FD3-5FDC-5E5E3F26E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2077" y="5094751"/>
            <a:ext cx="2435651" cy="1763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6CF2DE-B200-6DAF-AECE-B0AC0EBB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84284" y="5087717"/>
            <a:ext cx="1767791" cy="17677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F99B1E-C976-1CCB-CC3E-9D2C53570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90208"/>
            <a:ext cx="1675844" cy="176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02700D-8F0A-455D-21D1-F8BB7751D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5622" y="914399"/>
            <a:ext cx="9900753" cy="1358269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6B768E5A-52FF-F75D-AA3B-1C8B6D1528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2756388"/>
            <a:ext cx="9900753" cy="135826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CD4A4BC-F473-7413-C2A5-D07EAE5E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05824B8-6C3A-C914-421D-91C765DD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9B860AA-5834-E732-09EE-0B4C2B02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cxnSp>
        <p:nvCxnSpPr>
          <p:cNvPr id="2" name="Straight Connector 46">
            <a:extLst>
              <a:ext uri="{FF2B5EF4-FFF2-40B4-BE49-F238E27FC236}">
                <a16:creationId xmlns:a16="http://schemas.microsoft.com/office/drawing/2014/main" id="{D50F56C8-02F6-1FF2-BC4F-491AE782A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2494027"/>
            <a:ext cx="668877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85A2FB0-A9D4-F67C-4217-C01C336F9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42AF1-E4D2-F10A-B32F-2E7452625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343433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C261A18B-C79C-B070-5D41-0CBA01FD2C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352" y="2258568"/>
            <a:ext cx="5839022" cy="355701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F1CCA-5801-CC5B-119A-E3E19DD49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352978" y="0"/>
            <a:ext cx="5839022" cy="17632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E657D3-93D0-4FB1-972C-646B605C4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2077" y="0"/>
            <a:ext cx="2435651" cy="1763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AA8180-1A53-234B-8CF6-65ADAA09E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84284" y="-7034"/>
            <a:ext cx="1767791" cy="17677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94D7B-5469-B664-C915-DE6AC38BB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4543"/>
            <a:ext cx="1675844" cy="176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533955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C5CADB-99AC-488A-7133-10E5DE765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03006B-749F-4FAF-D572-3B107413B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7C7037-357A-DAC2-8D07-004BB2804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E95E211B-A490-5F92-9B2C-FEF3E25CE7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1847" y="831918"/>
            <a:ext cx="5754527" cy="273813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3C0C011-1233-FC56-AA5C-DF88FB24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CEB22DD-F16F-C3EB-5439-20C05A9D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9AAE25-EEAC-AF75-FC81-21BC617D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286C62-1802-4E61-4D00-A502D9576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43DA6-886C-DE80-B92C-E26740EAF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127583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B9DAA1-B1FD-3717-3F96-795C852E7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65959E-D3BE-3B35-72E6-EE177425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00DD584D-65FC-A106-C28D-A6D3A6A06A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3209" y="877456"/>
            <a:ext cx="5803165" cy="498763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C749CC8-6079-025A-0476-7D1E0223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B622798-A9D5-13A8-E6EB-283FF564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78BA8E0-712A-77CA-9713-4F206AB0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F44F8D-8952-05F9-99FA-D64FD2F50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60CB7-7D69-80F4-AE1F-366A7F0A2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20686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105965-4EE5-E185-7666-27A5E5F11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08540A-D298-C62B-CC21-BC7C6B5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A93AF98B-99CB-F2D7-B247-51CE41CD41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3907" y="831918"/>
            <a:ext cx="6542468" cy="51941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0F4DE3C-88B6-381C-78FC-8F935A23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5AFEEB4-7A81-9408-C4EF-D8AD90FF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48F71D-8479-0A54-8684-3F60D22D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6816AA6-A60B-C6E1-2885-EB6E2B1F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0E10A-DF0B-1339-7826-107A95CC1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121540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C489336-0C23-2A47-DB03-CA00009C6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A6D03D-AABD-4AB3-9E1E-4DF31BB85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949885" cy="519416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3C13A46E-F797-1C4C-30CB-A1D1CF1DE3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7669" y="2149812"/>
            <a:ext cx="6241267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7669" y="831919"/>
            <a:ext cx="6241267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007DB0D8-36F3-541C-5D5B-BE7F00E8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329D90C1-EB79-260E-06B5-66A03CAE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2A9EC63-48AA-37EC-23B0-6B17D323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D911F7-7994-03E9-8128-10F10F99F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32CED-CF03-686F-9EA0-80AD67E6E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997753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DA9BE4-08A4-4088-DC5B-3F23F0E30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F93313-9B95-1A0F-3166-8AA3A63D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47548" cy="519416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9B6ED53D-AC89-453B-A25B-CC64DA3F21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7880" y="2149812"/>
            <a:ext cx="6135624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879" y="831919"/>
            <a:ext cx="6135624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AA8B19BB-10BD-EE0C-B647-96D5DC23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194587B9-3271-1DBD-D567-666B86C3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514ABFF7-DC89-EED7-524C-B586DAD1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41CE73-4958-1726-C9B4-B1B239427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202D8C-E98F-7728-52D1-B44C8EB25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587647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BC20976-8E96-EA29-B265-5660CEC8E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01513C9-9EF0-A484-2C49-5EE294C48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2F6F66EE-0D34-BF84-840D-5515C61DE45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0001" y="1974715"/>
            <a:ext cx="6838936" cy="405136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20C2E4E4-F31A-5808-A175-A469DDB1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82603C5-7507-EB69-733F-4C701FC0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0D4AA14-0EE9-A172-CD3A-EBE8A6A7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D8354F-0577-6A30-7505-8930D0CF8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12CC8-70AC-3C75-6385-1A2C0FE27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561296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7DC58E5-8B31-563D-65CE-5CB78BABC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FC30D6-2036-A49D-2D87-79BB698CF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70DCF516-124A-7A64-68B6-4E53B51558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1964987"/>
            <a:ext cx="6858000" cy="406109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831919"/>
            <a:ext cx="3374039" cy="519416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59F9DDC1-0F34-0AE1-3EEE-1E60892D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BEBE2F7-AEE1-67CD-3C02-A67FE886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9C7317C0-3EE4-FD5D-3CC9-DB7DEBCF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D8B416C-0540-7EBC-ACDF-ABEFD1F3E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909623-94DE-B2B1-C6C6-D617C3FA2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56945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613" y="1130300"/>
            <a:ext cx="4361688" cy="209543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1130300"/>
            <a:ext cx="5767509" cy="4895779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B165A762-BACD-319C-9EF5-5CF71AF9C8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85613" y="3429000"/>
            <a:ext cx="4343323" cy="25970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C13B293D-5FAC-ED41-C577-E331EA7B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0661C5A1-EFBE-D83F-E3FA-9D4FE51A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20C21C12-B33B-D1AA-BF34-E06F9875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52F0003B-49B7-E647-B856-A28C13E88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8B2F7E7F-68C6-DB69-BEB3-80DF0547A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235817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80E457-D284-8068-957F-D85B00F3F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48C225-FAD4-92C8-17A3-928B4B089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5C4894AA-FFFC-1F6C-8D9F-E941F8EBE6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60901"/>
            <a:ext cx="4361689" cy="34651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767B0CE1-4683-787E-7E78-385D3963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FC3404C-1D8E-1568-8A3A-54E59FB1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EB56144-4670-1B58-E7A7-D1422FD2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65FCF90-9957-3ECF-3797-C2D9FEE25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1DC3D-3F35-8AEA-04FB-01F83E254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904560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43B539-8924-C0B8-CCA7-34D998DFB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4CABF7-7146-2440-C062-A7A27E048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0D6E1E71-0B89-05C8-E774-C2A7B85E9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25064" y="1926077"/>
            <a:ext cx="4503872" cy="410000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874D5977-75E4-C67F-7EED-E31BDE0F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627033D7-64E7-A801-F814-EFB76960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84A8F00-1CC3-8925-1509-3B5E9754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7AEE2D-FC46-D9E4-9B50-387B4FD56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D62481-A06C-5002-BF7F-77030C50D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70647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73C539E-0623-5929-BCEC-D7860319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87B982-FFFC-A392-9770-4B6E1013F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454081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12B2705C-C73D-683F-26BE-4A73BC9A33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491" y="2461098"/>
            <a:ext cx="4571999" cy="356498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16AE17EA-5DE5-8855-1E1E-385F234B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2416C41-9ADB-1026-364B-9B1691E4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88799B5-E673-DEC7-3C2D-136D8423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82FBAA-97D8-63A0-17D5-F9253ABE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DA902-FEB6-39F4-636D-7825E8E2A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592396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6DE35DD-8058-B253-9AE4-5343BE2B4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09DCB7-1228-2DB6-BF64-0785F0FD4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51116429-AB70-C20D-68E5-16E7545315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3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776FF1D7-D2E1-9D6F-EDE2-9D9DFF35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D41FB96-972B-0FA7-7C7C-A0ABD216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C8983F-239A-B6B7-795A-CCEFADE1E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8957D-AAB0-DEFF-9EB9-87C630548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77F51-9761-F2F7-DF84-18F30B6C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507424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E35E2C-3084-0772-27D8-C1C214C8E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C75CE7-717C-9244-6F64-72711A693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39F3FF2B-377F-34A8-9E2C-A1EC9335BC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5DD21-FB61-1472-2D64-DF184459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C03000C-C6AF-7EB5-E3EE-24823248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04AC67-A154-C296-CA4A-49DCD172C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E96F2D-3C3D-A945-47E2-8DFBDDA5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B6089DF-6C45-7412-2734-8B136774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162120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C22D34A-FBBF-9CE0-34C0-3280F9BBA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F763C5-31DF-45A8-C0B5-6A919573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BF4B9AE9-B78A-6D7F-20C0-F283C1653F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3453" y="3048000"/>
            <a:ext cx="3274547" cy="29780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E2451-9812-34C5-3C33-856233B6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7BEE80C-92D1-4F33-B7E5-AE68C00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F4499B-9AF3-3A1A-12B9-F6C1E6E90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5BF30-A776-10EB-762C-FBB4D91FD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3CF56CB-74FD-C1FE-4BAA-59AD65AF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295705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B2CDF48D-CCCD-B99E-F3E4-CBE0FAF00AA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28640" y="4509558"/>
            <a:ext cx="5719361" cy="151652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9BF16D-597E-71C6-2E3F-617E81AC1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FFD748-48BA-022F-3C3B-8ECFF6991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1A5897-3B1D-D50B-2427-DE31939A8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12E9A-BE86-243D-20DB-F00178EEA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775902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0E7AD882-6D78-F3F8-8E45-92D9E2011F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3785800"/>
            <a:ext cx="7324641" cy="2240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10FEAA-9CDF-DFFD-DBD8-08095A039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1CFA0B-85DB-50C1-2DCE-43E1EDBBD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C54F2B-C639-D1C8-E104-CE340FCBE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35091-8023-DE48-73F1-9D869CF9C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43953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FB787F-F856-83D9-31F8-50BF0D4FA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2657CF-AF2D-4A8E-63B2-8CCAB197A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09E7E7-B740-A6CE-1420-F217E7F4A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9654F-122C-B489-BF0E-A6BAA5D16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A11349E4-C41F-EF8C-5B32-8D12705832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3520" y="831918"/>
            <a:ext cx="7314480" cy="22402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D6D9177A-278B-20CD-FE5E-6F661951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941CF86-87E6-8948-A328-3A114B74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918809-FD32-F4A8-916A-8C76FA0B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893791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F73A54CA-FA08-6D99-1B77-AB0DB1F1F7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44080" y="2081048"/>
            <a:ext cx="4133883" cy="394503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2BD5C2-C97A-C70B-4A03-5569FBDD1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1B1B7C-F3EB-F411-B2F9-1447EABB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B7F775-C47A-0C90-3F41-F05671F1F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DFAFE-D783-B15F-D030-6FAC8A72D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33170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95BEAC7-7B0C-C67F-01EC-0D5C31CD3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398174-5A2A-0232-7084-BDB432D18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4715548A-198D-A2A2-D9C7-3779F8215A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20080" y="831918"/>
            <a:ext cx="5627921" cy="519416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D06C25B-BA04-6374-65A0-76BDFB9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1172CCB-6D6C-0A38-3222-0CAD79CB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DE88A6-D60B-5097-2962-CB861AC16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0A4DDF-9BA3-BD54-C7E8-4ED5D6B42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54A775-89E7-5952-D197-FE7A9446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285410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5CD5E4D-B21F-98DF-71BB-3A8188C8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D01567-22D1-D593-7AB7-C9C8909D5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75509B30-B5BA-035C-9545-B2FADE9F1D7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873725"/>
            <a:ext cx="6623601" cy="515235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6D1E27-668D-3A81-ECA7-E859B09D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839268F-45AE-773B-CA70-8DA32DFF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008C-348E-CAC8-F695-08D4D59DB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92DB71-11A1-8B7E-EAA4-FDA88B6D5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05589EF-8DD8-AEE5-B805-F35A554E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219341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30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EDAD85-F38A-F8E4-0FB2-B9C16147E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16411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E5E6DC-1581-347B-6E68-84FDD567E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66829" y="5076496"/>
            <a:ext cx="949582" cy="9495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66340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30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2E5CEB-4489-D4CC-65B7-9A1B72D09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98418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78B4C5-7BDE-ECA1-1582-30036FE31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1992" y="5076496"/>
            <a:ext cx="949582" cy="9495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51910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30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4D81316D-7AD5-22E6-6806-2F3D201F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545E312D-C246-214A-8F58-D9F6BAB6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DB604A8-7D54-9DD8-8A5E-316C302E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7A0F15-0EC8-3130-B9B5-66D399625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98418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7BB827-F847-836C-072E-C2C3984CE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1992" y="5076496"/>
            <a:ext cx="949582" cy="9495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770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1CA164D-7C6B-06BE-16C2-75C3BBB0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564D697-3A15-958B-0687-86B35554E5C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7BE9796F-7CAB-A7AD-BB1B-EF86F280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B9F2B7A-26D1-C74D-5C9C-6D7D978F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8025FD8-B45A-B3C3-084D-724FB4DF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B71AB10C-8E59-AE2D-86E6-6D9A67FE3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347193"/>
      </p:ext>
    </p:extLst>
  </p:cSld>
  <p:clrMapOvr>
    <a:masterClrMapping/>
  </p:clrMapOvr>
  <p:hf hd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ABBD9B3D-FB5A-6D3F-EF35-F7B4FBF0E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84CA7AA3-D510-AE6D-77CB-24E1A93D21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16EFAA2-E99D-F827-DFFE-D71EBB1C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D80EBC9-29E7-4715-E05F-F2D325C9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C54C63-BED0-0452-B6A1-95AD18F2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E1ABDF3-0063-4A1D-10BB-DA224E36D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325423"/>
      </p:ext>
    </p:extLst>
  </p:cSld>
  <p:clrMapOvr>
    <a:masterClrMapping/>
  </p:clrMapOvr>
  <p:hf hd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812D861-AAF6-629C-C60E-0B5C35159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C92FC1E-596F-194E-3F60-0A378404860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12B60F2-F319-70A6-2EBE-ED2F93E6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78C9B71-D747-9AA5-01A4-6AEFAECC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264EEDC-4B25-0FE5-4420-D6FB69DD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B5B8FFC-1EB4-655C-F3FA-BF2976D1E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566172"/>
      </p:ext>
    </p:extLst>
  </p:cSld>
  <p:clrMapOvr>
    <a:masterClrMapping/>
  </p:clrMapOvr>
  <p:hf hd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9FF5536-3C53-3CA1-4017-2BED4FDC7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25D4C4-9EA2-CAEC-F708-C848BBE20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6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52319-ED8D-9D07-4FEA-E6109633B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0B9B11-0EB4-232B-6E49-55998E9B4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D97EF-1B79-4BC4-8D86-085A169C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366B58F-A813-A563-E14F-6008832E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11857CB-6DBB-09F8-F69F-B30D94B6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64651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71E2D2-F4D4-4D2D-E293-39C0966AB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74C01C-C082-4D6C-8432-D7AC79BB0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A746ACEE-4843-63D2-082A-91EBA0C6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754E216-025A-D125-2442-AB40AB49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D6C5C0B-4D2F-09C8-E6DB-1C790F4F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AD6E7-539D-18AB-31B8-4BBCBC594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C988C6-6A58-97A9-A978-3E644B327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880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196DB63-381C-8C7D-BB65-082688206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CE5E81E-1879-046D-890F-67265A4F6A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EC2FBA-56C5-75AA-CB73-6FEF3DAE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DCD230-2FA8-A6FB-624C-AE600C46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280E6F-66E0-FF74-CDC9-9E8D2921F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34818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BD6CD142-9810-6E9E-811F-FBF95DAB1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10E30-A3EF-7BFE-43CC-85D8B7FDC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0A18B9-CFE5-6D5D-5C30-04F0B337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869561-2D2D-9996-FFE8-388DC6E9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998549-C638-4A98-30C9-24AEA641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999891-11D4-E429-CDE9-3DF80CE20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733A1D-510F-48B2-3D98-68215649F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275115"/>
      </p:ext>
    </p:extLst>
  </p:cSld>
  <p:clrMapOvr>
    <a:masterClrMapping/>
  </p:clrMapOvr>
  <p:hf hd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6BD940F-D20B-0BF8-988B-5F547E826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4561AA-EE8E-A34D-D1B7-BCB6A39A7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B593D132-537B-9DD5-6B41-6F24C843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E6E8398-5863-5CDD-8A1A-FAF35E8D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87B6F-DAFE-6F4E-C600-61C125681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E069CF5-8226-D57D-93F5-CB79F8943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275FBC0-CDAF-8728-57DD-F90BC45B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526443"/>
      </p:ext>
    </p:extLst>
  </p:cSld>
  <p:clrMapOvr>
    <a:masterClrMapping/>
  </p:clrMapOvr>
  <p:hf hd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DDD22BDB-6215-B88F-E45B-801DAF53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B2AAEF12-50E4-45D8-A028-628BFE007591}" type="datetime1">
              <a:rPr lang="en-IN" smtClean="0"/>
              <a:t>17-05-2026</a:t>
            </a:fld>
            <a:endParaRPr lang="en-IN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3B8FB568-40CA-4614-DF0C-2C6D33DBF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19509B16-033B-8F64-FFC4-DDE5E8D48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A002548-DE85-310F-C8D5-5305547E8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9368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id="{3CA77268-47A6-DBA8-B49A-089CF0ABA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7AE0FC-167D-DCD4-7E90-08F6C5CF5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6CB3C578-3B25-DE12-0521-367F4E721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E81BD741-F30D-3EC0-3E21-FE8EDC56F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8CB1F1-43DC-84A2-DB38-42CED8A6D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13D9D504-F065-099D-DFC5-03AAFA58A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6DFB1812-ACA6-4DC3-03F0-C2E6122DF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id="{03BC5B12-08AC-2BFA-4EDD-13EA2E298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A93A9BBB-A674-5564-A878-E3CA286C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7F44296-638D-5B08-2F89-F8907F3138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5EBA686-575C-E191-F98A-C0EBBA4F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7DF147-0973-9BC0-59E9-EA9637F0FE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C0FA2C4-2DCC-57D2-A4A8-C0E7A91A23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6F9B4D9-EE44-B302-2788-6E68076599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3067" y="2691208"/>
            <a:ext cx="6196604" cy="3331705"/>
          </a:xfrm>
          <a:custGeom>
            <a:avLst/>
            <a:gdLst>
              <a:gd name="connsiteX0" fmla="*/ 0 w 6196604"/>
              <a:gd name="connsiteY0" fmla="*/ 0 h 3331705"/>
              <a:gd name="connsiteX1" fmla="*/ 6196604 w 6196604"/>
              <a:gd name="connsiteY1" fmla="*/ 0 h 3331705"/>
              <a:gd name="connsiteX2" fmla="*/ 6196604 w 6196604"/>
              <a:gd name="connsiteY2" fmla="*/ 3331705 h 3331705"/>
              <a:gd name="connsiteX3" fmla="*/ 0 w 6196604"/>
              <a:gd name="connsiteY3" fmla="*/ 3331705 h 3331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6604" h="3331705">
                <a:moveTo>
                  <a:pt x="0" y="0"/>
                </a:moveTo>
                <a:lnTo>
                  <a:pt x="6196604" y="0"/>
                </a:lnTo>
                <a:lnTo>
                  <a:pt x="6196604" y="3331705"/>
                </a:lnTo>
                <a:lnTo>
                  <a:pt x="0" y="333170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377283"/>
      </p:ext>
    </p:extLst>
  </p:cSld>
  <p:clrMapOvr>
    <a:masterClrMapping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DDD22BDB-6215-B88F-E45B-801DAF53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3B8FB568-40CA-4614-DF0C-2C6D33DBF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19509B16-033B-8F64-FFC4-DDE5E8D48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A002548-DE85-310F-C8D5-5305547E8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Straight Connector 3">
            <a:extLst>
              <a:ext uri="{FF2B5EF4-FFF2-40B4-BE49-F238E27FC236}">
                <a16:creationId xmlns:a16="http://schemas.microsoft.com/office/drawing/2014/main" id="{F86D542F-38EC-61DB-7AD9-6453D6F0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17BECAB-B66B-0943-7AF6-21611173D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6161399-D3CD-2B6A-7B5A-A173236E9A9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90822DB5-2A32-BB84-BE71-30DA82316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id="{456CED7D-93B5-34BD-84D6-825AD84C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id="{12B87474-83B0-2583-6BEB-DBB264CC1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55BFE79B-8E6A-D9C7-8A98-4A21A96FDC4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F5A556EA-CC4F-1770-022A-C73BB2B983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52" name="Straight Connector 3">
            <a:extLst>
              <a:ext uri="{FF2B5EF4-FFF2-40B4-BE49-F238E27FC236}">
                <a16:creationId xmlns:a16="http://schemas.microsoft.com/office/drawing/2014/main" id="{664CF928-1384-68A8-D1B4-8DEB8E0F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">
            <a:extLst>
              <a:ext uri="{FF2B5EF4-FFF2-40B4-BE49-F238E27FC236}">
                <a16:creationId xmlns:a16="http://schemas.microsoft.com/office/drawing/2014/main" id="{82427830-33ED-2D71-F1A1-A803CC6A3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01FC06B-A087-E474-D4A7-336F08F727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E6AD28EF-5FD9-495F-E6E5-08E2C0E0B5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id="{94AEDC53-C272-2AB2-5E5D-F72DAB0DD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id="{055C88A9-A0AC-5C27-5E5E-84D680EBD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35D000D-A853-BF2A-796C-5BB4089FE15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B774CFC3-0318-B4D5-3562-72284B097D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64234"/>
      </p:ext>
    </p:extLst>
  </p:cSld>
  <p:clrMapOvr>
    <a:masterClrMapping/>
  </p:clrMapOvr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id="{3CA77268-47A6-DBA8-B49A-089CF0ABA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7AE0FC-167D-DCD4-7E90-08F6C5CF5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6CB3C578-3B25-DE12-0521-367F4E721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E81BD741-F30D-3EC0-3E21-FE8EDC56F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8CB1F1-43DC-84A2-DB38-42CED8A6D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3235B6E-0BC4-E35C-A63D-8431B00F064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07422" y="2714114"/>
            <a:ext cx="3286779" cy="3144803"/>
          </a:xfrm>
          <a:custGeom>
            <a:avLst/>
            <a:gdLst>
              <a:gd name="connsiteX0" fmla="*/ 0 w 3286779"/>
              <a:gd name="connsiteY0" fmla="*/ 0 h 3144803"/>
              <a:gd name="connsiteX1" fmla="*/ 3286779 w 3286779"/>
              <a:gd name="connsiteY1" fmla="*/ 0 h 3144803"/>
              <a:gd name="connsiteX2" fmla="*/ 3286779 w 3286779"/>
              <a:gd name="connsiteY2" fmla="*/ 3144803 h 3144803"/>
              <a:gd name="connsiteX3" fmla="*/ 0 w 3286779"/>
              <a:gd name="connsiteY3" fmla="*/ 3144803 h 314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779" h="3144803">
                <a:moveTo>
                  <a:pt x="0" y="0"/>
                </a:moveTo>
                <a:lnTo>
                  <a:pt x="3286779" y="0"/>
                </a:lnTo>
                <a:lnTo>
                  <a:pt x="3286779" y="3144803"/>
                </a:lnTo>
                <a:lnTo>
                  <a:pt x="0" y="31448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cxnSp>
        <p:nvCxnSpPr>
          <p:cNvPr id="19" name="Straight Connector 3">
            <a:extLst>
              <a:ext uri="{FF2B5EF4-FFF2-40B4-BE49-F238E27FC236}">
                <a16:creationId xmlns:a16="http://schemas.microsoft.com/office/drawing/2014/main" id="{917DECF4-2610-D056-1F1B-0A01B2308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">
            <a:extLst>
              <a:ext uri="{FF2B5EF4-FFF2-40B4-BE49-F238E27FC236}">
                <a16:creationId xmlns:a16="http://schemas.microsoft.com/office/drawing/2014/main" id="{2C28AB49-3DB1-E52D-1AB4-B1709BC0A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0FAA266-7A2C-303C-37A9-D9096061EB6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0CEB8D7-8819-9032-A32B-1E36953A03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23" name="Straight Connector 3">
            <a:extLst>
              <a:ext uri="{FF2B5EF4-FFF2-40B4-BE49-F238E27FC236}">
                <a16:creationId xmlns:a16="http://schemas.microsoft.com/office/drawing/2014/main" id="{A273CF89-AB4A-0304-626F-BFDCFC1E2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">
            <a:extLst>
              <a:ext uri="{FF2B5EF4-FFF2-40B4-BE49-F238E27FC236}">
                <a16:creationId xmlns:a16="http://schemas.microsoft.com/office/drawing/2014/main" id="{5A619983-7048-CFFA-2B3F-E567DA8E3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0DD2985-D841-921A-2CA5-FA93C316ACB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1B32814-1E10-4360-C81E-F89CCF8570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id="{E3DDDE90-D898-8159-4120-69CD5B671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480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id="{911865EF-2FFC-ABE3-A83C-6F770125D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480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F566BA2-1186-85A4-6ED7-A0446CC4212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80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02D8DCD-6AEF-BCCC-41E1-218BC4F8CB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80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id="{6EF6E5FB-696E-E4DA-376C-C6E586226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480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id="{45179F2C-623F-1831-DD39-ED9E7ED59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480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A0830792-F096-74D1-6CB2-FE2D1864B41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5480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29642387-6B33-1DBB-00B8-EDF68B532C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480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25233"/>
      </p:ext>
    </p:extLst>
  </p:cSld>
  <p:clrMapOvr>
    <a:masterClrMapping/>
  </p:clrMapOvr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5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9">
            <a:extLst>
              <a:ext uri="{FF2B5EF4-FFF2-40B4-BE49-F238E27FC236}">
                <a16:creationId xmlns:a16="http://schemas.microsoft.com/office/drawing/2014/main" id="{311682DF-43EC-0F07-A7C5-BBE34873E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10514" y="4576513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4">
            <a:extLst>
              <a:ext uri="{FF2B5EF4-FFF2-40B4-BE49-F238E27FC236}">
                <a16:creationId xmlns:a16="http://schemas.microsoft.com/office/drawing/2014/main" id="{B119537C-2409-953B-BDE2-AB2521C1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617238" y="4569982"/>
            <a:ext cx="2281484" cy="229454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2C9829E9-8D63-ED15-7AEF-A81415DAB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6007099" y="-6007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DEC63B33-D13D-FB4A-B537-E8E2BF41C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1675F45C-B671-B1FE-B78E-D2B5C3F52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7" name="Straight Connector 3">
            <a:extLst>
              <a:ext uri="{FF2B5EF4-FFF2-40B4-BE49-F238E27FC236}">
                <a16:creationId xmlns:a16="http://schemas.microsoft.com/office/drawing/2014/main" id="{5B0A7F60-BB82-1523-6016-4DF3F9BC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4">
            <a:extLst>
              <a:ext uri="{FF2B5EF4-FFF2-40B4-BE49-F238E27FC236}">
                <a16:creationId xmlns:a16="http://schemas.microsoft.com/office/drawing/2014/main" id="{5A38B25D-1A75-AA11-EC1B-2E9B36834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642B5E4-0B50-2725-EDDE-D1EE88D5660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80C401A-242B-5E39-BC68-857C9037D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18953D7A-BF5D-1E06-0B40-6C6C99CA6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B5C700DF-62E4-E111-6F97-6A25629A2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733C667-C70E-68FC-D4E2-53C774281FE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966CDD4-764A-2B92-8BDB-D68F8B398B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19" name="Straight Connector 3">
            <a:extLst>
              <a:ext uri="{FF2B5EF4-FFF2-40B4-BE49-F238E27FC236}">
                <a16:creationId xmlns:a16="http://schemas.microsoft.com/office/drawing/2014/main" id="{71FAFBF0-0542-A120-2960-1DA55B515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480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">
            <a:extLst>
              <a:ext uri="{FF2B5EF4-FFF2-40B4-BE49-F238E27FC236}">
                <a16:creationId xmlns:a16="http://schemas.microsoft.com/office/drawing/2014/main" id="{B9F19829-BFF7-0CE8-D758-D75C4AF3B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480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9BEA94E-612C-BF3C-77F0-88A31565B16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80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B4BED3-847C-3754-D9D8-AD3FC960BC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80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31" name="Straight Connector 3">
            <a:extLst>
              <a:ext uri="{FF2B5EF4-FFF2-40B4-BE49-F238E27FC236}">
                <a16:creationId xmlns:a16="http://schemas.microsoft.com/office/drawing/2014/main" id="{0E7ABFBF-7319-2463-5753-0C61371AF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">
            <a:extLst>
              <a:ext uri="{FF2B5EF4-FFF2-40B4-BE49-F238E27FC236}">
                <a16:creationId xmlns:a16="http://schemas.microsoft.com/office/drawing/2014/main" id="{D7158F56-5CD8-DF28-9ADF-24526A865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6AE9EDE-852E-94EA-FA9B-12CF69E7964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ADCB3C5B-24BB-7C80-0DA9-35FFCEEF0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4E3A12E4-9002-7558-ED02-4F510DA9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134F7B0C-B157-5B9C-AB6F-3C0383644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1B4FC6E-B4F0-50B5-5D3C-EAD01FD41E3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E12CB3F-C82F-19E0-434B-60E17BD2D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509517"/>
      </p:ext>
    </p:extLst>
  </p:cSld>
  <p:clrMapOvr>
    <a:masterClrMapping/>
  </p:clrMapOvr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1FC18CCE-EF31-4DB3-B097-BEBB81314D66}" type="datetime1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0883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D607E11C-4CFD-0917-7CE5-5FD047FF4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39689-5195-17C0-4FE6-F7675B1A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5213A67-B154-5478-844F-57C8F6A8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BA9FDD-8499-4908-AFED-402D3D830732}" type="datetime1">
              <a:rPr lang="en-IN" smtClean="0"/>
              <a:t>17-05-2026</a:t>
            </a:fld>
            <a:endParaRPr lang="en-IN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EBCD9679-8789-3C46-2C01-1A70F83B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D71F9D7-53CC-2688-5FE1-813728EC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DAAFA8-C82C-ACA2-4E69-EB7E3BD0D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A204AA-E1F0-B3EE-A344-C3874ECEA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6475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D0068B2F-8642-20C6-2DC8-D05334DB3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8106B-58A5-8614-7D42-8ACA85436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7CA2E7D-147E-2BB9-7A9B-568E3676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D6880B-C055-4DD1-A17C-4C2F33B7A20D}" type="datetime1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D5EF1-8756-9CD5-58BC-20BC3146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9B8D7D-2466-9642-26D7-DFF380C45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6380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6288D7-F050-E1E7-DC78-67369A114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33346" y="831920"/>
            <a:ext cx="831082" cy="8310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394A36-B784-7244-4CF7-3B5208E8D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02264" y="831920"/>
            <a:ext cx="831082" cy="8310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708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278D60-FC64-3BFB-1E09-A1791F91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592226" y="4576512"/>
            <a:ext cx="2281488" cy="2281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0CDBB60-E0E0-833E-F84B-9BEC60B7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3CCC54A-AE1A-0789-DF90-5E087B85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507772A-AF63-4BA6-5E0F-6C909D0E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BF7F53-1667-65E2-E3E8-2BDFBB430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592226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013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1E718A0D-D1A5-F3AB-2E4B-7E5B6D164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10514" y="4576513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64545F-B4D6-7EA6-DF60-737E0CDF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126" y="430370"/>
            <a:ext cx="4323773" cy="3990831"/>
          </a:xfrm>
        </p:spPr>
        <p:txBody>
          <a:bodyPr anchor="ctr">
            <a:no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 descr="A man in a suit is looking at a smartphone.">
            <a:extLst>
              <a:ext uri="{FF2B5EF4-FFF2-40B4-BE49-F238E27FC236}">
                <a16:creationId xmlns:a16="http://schemas.microsoft.com/office/drawing/2014/main" id="{045934CC-3871-932C-71A1-C590767CEC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858625" cy="6858000"/>
          </a:xfrm>
          <a:custGeom>
            <a:avLst/>
            <a:gdLst>
              <a:gd name="connsiteX0" fmla="*/ 0 w 9858625"/>
              <a:gd name="connsiteY0" fmla="*/ 0 h 6858000"/>
              <a:gd name="connsiteX1" fmla="*/ 2961362 w 9858625"/>
              <a:gd name="connsiteY1" fmla="*/ 0 h 6858000"/>
              <a:gd name="connsiteX2" fmla="*/ 8737073 w 9858625"/>
              <a:gd name="connsiteY2" fmla="*/ 5742833 h 6858000"/>
              <a:gd name="connsiteX3" fmla="*/ 7615524 w 9858625"/>
              <a:gd name="connsiteY3" fmla="*/ 6857997 h 6858000"/>
              <a:gd name="connsiteX4" fmla="*/ 9858622 w 9858625"/>
              <a:gd name="connsiteY4" fmla="*/ 6857997 h 6858000"/>
              <a:gd name="connsiteX5" fmla="*/ 9858625 w 9858625"/>
              <a:gd name="connsiteY5" fmla="*/ 6858000 h 6858000"/>
              <a:gd name="connsiteX6" fmla="*/ 0 w 98586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58625" h="6858000">
                <a:moveTo>
                  <a:pt x="0" y="0"/>
                </a:moveTo>
                <a:lnTo>
                  <a:pt x="2961362" y="0"/>
                </a:lnTo>
                <a:lnTo>
                  <a:pt x="8737073" y="5742833"/>
                </a:lnTo>
                <a:lnTo>
                  <a:pt x="7615524" y="6857997"/>
                </a:lnTo>
                <a:lnTo>
                  <a:pt x="9858622" y="6857997"/>
                </a:lnTo>
                <a:lnTo>
                  <a:pt x="985862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02E5-2DFC-DF77-C335-F8BB163D1B0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4F7829B-847B-82B9-DC04-43F2A9DA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C44EE9F-3C07-B885-75F7-2EF19AE6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8B7B7E86-F28E-485C-35D7-E051E0B8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617238" y="4569982"/>
            <a:ext cx="2281484" cy="229454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865082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89FF1-E29A-4F06-A7D8-1D245FC9E10E}" type="datetime1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160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31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311"/>
              <a:t>Click to edit Master text styles</a:t>
            </a:r>
          </a:p>
          <a:p>
            <a:pPr lvl="1"/>
            <a:r>
              <a:rPr lang="en-US" sz="1311"/>
              <a:t>Second level</a:t>
            </a:r>
          </a:p>
          <a:p>
            <a:pPr lvl="2"/>
            <a:r>
              <a:rPr lang="en-US" sz="1311"/>
              <a:t>Third level</a:t>
            </a:r>
          </a:p>
          <a:p>
            <a:pPr lvl="3"/>
            <a:r>
              <a:rPr lang="en-US" sz="1311"/>
              <a:t>Fourth level</a:t>
            </a:r>
          </a:p>
          <a:p>
            <a:pPr lvl="4"/>
            <a:r>
              <a:rPr lang="en-US" sz="1311"/>
              <a:t>Fifth level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2D17ED90-CB91-6261-AB30-D74BC9BC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 algn="r">
              <a:defRPr sz="1400"/>
            </a:lvl1pPr>
          </a:lstStyle>
          <a:p>
            <a:fld id="{70D09E33-9FB3-4AC5-825D-6D50785452DC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42388CC-2E65-D68D-4447-8A8F96450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IN"/>
              <a:t>Dept.of EEE , ASE, Bengaluru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94092E3-4CDD-E5DF-7DEB-51B0DF898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 sz="1400"/>
            </a:lvl1pPr>
          </a:lstStyle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8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  <p:sldLayoutId id="2147483757" r:id="rId19"/>
    <p:sldLayoutId id="2147483758" r:id="rId20"/>
    <p:sldLayoutId id="2147483759" r:id="rId21"/>
    <p:sldLayoutId id="2147483760" r:id="rId22"/>
    <p:sldLayoutId id="2147483761" r:id="rId23"/>
    <p:sldLayoutId id="2147483762" r:id="rId24"/>
    <p:sldLayoutId id="2147483763" r:id="rId25"/>
    <p:sldLayoutId id="2147483764" r:id="rId26"/>
    <p:sldLayoutId id="2147483765" r:id="rId27"/>
    <p:sldLayoutId id="2147483766" r:id="rId28"/>
    <p:sldLayoutId id="2147483767" r:id="rId29"/>
    <p:sldLayoutId id="2147483768" r:id="rId30"/>
    <p:sldLayoutId id="2147483769" r:id="rId31"/>
    <p:sldLayoutId id="2147483770" r:id="rId32"/>
    <p:sldLayoutId id="2147483771" r:id="rId33"/>
    <p:sldLayoutId id="2147483772" r:id="rId34"/>
    <p:sldLayoutId id="2147483773" r:id="rId35"/>
    <p:sldLayoutId id="2147483774" r:id="rId36"/>
    <p:sldLayoutId id="2147483775" r:id="rId37"/>
    <p:sldLayoutId id="2147483776" r:id="rId38"/>
    <p:sldLayoutId id="2147483777" r:id="rId39"/>
    <p:sldLayoutId id="2147483778" r:id="rId40"/>
    <p:sldLayoutId id="2147483779" r:id="rId41"/>
    <p:sldLayoutId id="2147483780" r:id="rId42"/>
    <p:sldLayoutId id="2147483781" r:id="rId43"/>
    <p:sldLayoutId id="2147483782" r:id="rId44"/>
    <p:sldLayoutId id="2147483783" r:id="rId45"/>
    <p:sldLayoutId id="2147483784" r:id="rId46"/>
    <p:sldLayoutId id="2147483785" r:id="rId47"/>
    <p:sldLayoutId id="2147483786" r:id="rId48"/>
    <p:sldLayoutId id="2147483787" r:id="rId49"/>
    <p:sldLayoutId id="2147483788" r:id="rId50"/>
    <p:sldLayoutId id="2147483789" r:id="rId51"/>
    <p:sldLayoutId id="2147483790" r:id="rId52"/>
    <p:sldLayoutId id="2147483791" r:id="rId53"/>
    <p:sldLayoutId id="2147483792" r:id="rId54"/>
    <p:sldLayoutId id="2147483793" r:id="rId55"/>
    <p:sldLayoutId id="2147483794" r:id="rId56"/>
    <p:sldLayoutId id="2147483795" r:id="rId57"/>
    <p:sldLayoutId id="2147483796" r:id="rId58"/>
    <p:sldLayoutId id="2147483797" r:id="rId59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482E-DE97-4C64-BEE3-0539CECF2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2942" y="1079158"/>
            <a:ext cx="7407455" cy="1912856"/>
          </a:xfrm>
        </p:spPr>
        <p:txBody>
          <a:bodyPr>
            <a:normAutofit/>
          </a:bodyPr>
          <a:lstStyle/>
          <a:p>
            <a:r>
              <a:rPr lang="en-US" sz="2000" dirty="0">
                <a:cs typeface="Times New Roman" panose="02020603050405020304" pitchFamily="18" charset="0"/>
              </a:rPr>
              <a:t> </a:t>
            </a:r>
            <a:endParaRPr lang="en-IN" sz="2000" dirty="0"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D3E82-1FEC-43C6-8A5D-710651C31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945" y="3611446"/>
            <a:ext cx="9376931" cy="1655762"/>
          </a:xfrm>
        </p:spPr>
        <p:txBody>
          <a:bodyPr>
            <a:normAutofit/>
          </a:bodyPr>
          <a:lstStyle/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YUVA AKHIL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BL.SC.U4AIE24013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PRANNAV – BL.SC.U4AIE24055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P.JAY VARDHAN – BL.SC.U4AIE24064</a:t>
            </a:r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B700A91E-8272-4101-BC78-D70B792D5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48794" y="0"/>
            <a:ext cx="2243206" cy="57546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pic>
        <p:nvPicPr>
          <p:cNvPr id="1028" name="Picture 4" descr="Electrical Circuit Images – Browse 3,602,783 Stock Photos, Vectors, and  Video | Adobe Stock">
            <a:extLst>
              <a:ext uri="{FF2B5EF4-FFF2-40B4-BE49-F238E27FC236}">
                <a16:creationId xmlns:a16="http://schemas.microsoft.com/office/drawing/2014/main" id="{F0EDEC42-1FA0-B055-30FC-702CA07D1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2071619" y="2071619"/>
            <a:ext cx="6855176" cy="271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F93782-3DA7-D668-EEAC-010868840B7E}"/>
              </a:ext>
            </a:extLst>
          </p:cNvPr>
          <p:cNvSpPr txBox="1"/>
          <p:nvPr/>
        </p:nvSpPr>
        <p:spPr>
          <a:xfrm>
            <a:off x="3662941" y="747184"/>
            <a:ext cx="68739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latin typeface="+mj-lt"/>
              </a:rPr>
              <a:t>Video Classification of Child Safety</a:t>
            </a:r>
            <a:endParaRPr lang="en-IN" sz="5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49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FA19-9DB0-4AAE-A2E5-9FB35E63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Outline of Presentation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016D5-746E-4B5B-992D-3B6EF3BA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792E9-A071-47A9-AC52-E24ED0FD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35DEA-DD26-4421-9093-10A040B9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73407FEE-038A-4E46-9214-F0EB66B33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8F48B20-FFCD-CD0B-2860-CC757629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1. Introduction</a:t>
            </a:r>
            <a:br>
              <a:rPr lang="en-US" sz="2000" dirty="0">
                <a:latin typeface="+mj-lt"/>
              </a:rPr>
            </a:b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2. Problem Statement</a:t>
            </a:r>
            <a:br>
              <a:rPr lang="en-US" sz="2000" dirty="0">
                <a:latin typeface="+mj-lt"/>
              </a:rPr>
            </a:b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3. Objectives</a:t>
            </a:r>
            <a:br>
              <a:rPr lang="en-US" sz="2000" dirty="0">
                <a:latin typeface="+mj-lt"/>
              </a:rPr>
            </a:b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4. Literature Review</a:t>
            </a:r>
            <a:br>
              <a:rPr lang="en-US" sz="2000" dirty="0">
                <a:latin typeface="+mj-lt"/>
              </a:rPr>
            </a:b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5. Dataset Overview</a:t>
            </a:r>
            <a:br>
              <a:rPr lang="en-US" sz="2000" dirty="0">
                <a:latin typeface="+mj-lt"/>
              </a:rPr>
            </a:b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6. Complete Project Pipeline</a:t>
            </a:r>
            <a:br>
              <a:rPr lang="en-US" sz="2000" dirty="0">
                <a:latin typeface="+mj-lt"/>
              </a:rPr>
            </a:br>
            <a:endParaRPr lang="en-IN" sz="2000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98F484-1B6A-0BB7-0C6F-746418965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2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1976-2701-B9A5-D812-47A916262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622" y="926698"/>
            <a:ext cx="6712504" cy="423638"/>
          </a:xfrm>
        </p:spPr>
        <p:txBody>
          <a:bodyPr>
            <a:normAutofit/>
          </a:bodyPr>
          <a:lstStyle/>
          <a:p>
            <a:r>
              <a:rPr lang="en-US" sz="2400" dirty="0"/>
              <a:t>Outline of Presentation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2D24-5DD3-D923-0646-25C5513877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0605" y="1626781"/>
            <a:ext cx="10195769" cy="4238311"/>
          </a:xfrm>
        </p:spPr>
        <p:txBody>
          <a:bodyPr>
            <a:normAutofit/>
          </a:bodyPr>
          <a:lstStyle/>
          <a:p>
            <a:r>
              <a:rPr lang="en-US" sz="2000" dirty="0"/>
              <a:t>8. Machine Learning Models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9. Stacking Ensemble Learning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10. Results and Evaluation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11. </a:t>
            </a:r>
            <a:r>
              <a:rPr lang="en-US" sz="2000" dirty="0" err="1"/>
              <a:t>Streamlit</a:t>
            </a:r>
            <a:r>
              <a:rPr lang="en-US" sz="2000" dirty="0"/>
              <a:t> Application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12. Advantages, Limitations &amp; Future Scope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13. Conclusion</a:t>
            </a:r>
            <a:endParaRPr lang="en-IN" sz="20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20B56-7137-D73A-8055-F1A44852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5699-7C82-42E1-AB3A-D1E31D1C39FC}" type="datetime1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E84E-ED2A-34BC-01E7-A52562BC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CA9EF-F7DE-090E-8857-6EB59DF0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96FE8CEF-D9A0-91DC-5692-49DE5D83DE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48794" y="0"/>
            <a:ext cx="2243206" cy="57546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206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DA21A-CD34-4559-91E6-977F4FCD6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Introduction  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DD58C-BCAB-4751-B549-012570B9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Date:18-05-2026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E2FD0-72CA-40CF-A999-A94639419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91A7B-32B4-477D-A18E-266D8115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BCD4A134-933F-469F-9D4B-18B4815496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9D3535-9EA4-4225-B127-178C8ECBD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409" y="5373882"/>
            <a:ext cx="2032191" cy="1036665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C0FABCA-E182-325D-A242-1E0B8F926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• Video classification assigns labels to complete video sequences.</a:t>
            </a:r>
          </a:p>
          <a:p>
            <a:endParaRPr lang="en-US" b="1" dirty="0"/>
          </a:p>
          <a:p>
            <a:r>
              <a:rPr lang="en-US" b="1" dirty="0"/>
              <a:t>• This project focuses on Safe and Unsafe activity classification.</a:t>
            </a:r>
          </a:p>
          <a:p>
            <a:endParaRPr lang="en-US" b="1" dirty="0"/>
          </a:p>
          <a:p>
            <a:r>
              <a:rPr lang="en-US" b="1" dirty="0"/>
              <a:t>• The system uses Computer Vision and Machine Learning techniques.</a:t>
            </a:r>
          </a:p>
          <a:p>
            <a:endParaRPr lang="en-US" b="1" dirty="0"/>
          </a:p>
          <a:p>
            <a:r>
              <a:rPr lang="en-US" b="1" dirty="0"/>
              <a:t>• CNN embeddings are extracted from sampled video frames.</a:t>
            </a:r>
          </a:p>
          <a:p>
            <a:endParaRPr lang="en-US" b="1" dirty="0"/>
          </a:p>
          <a:p>
            <a:r>
              <a:rPr lang="en-US" b="1" dirty="0"/>
              <a:t>• Multiple machine learning classifiers are trained and compared.</a:t>
            </a:r>
          </a:p>
          <a:p>
            <a:endParaRPr lang="en-US" b="1" dirty="0"/>
          </a:p>
          <a:p>
            <a:r>
              <a:rPr lang="en-US" b="1" dirty="0"/>
              <a:t>• Stacking ensemble learning improves classification robustness.</a:t>
            </a:r>
          </a:p>
          <a:p>
            <a:endParaRPr lang="en-US" b="1" dirty="0"/>
          </a:p>
          <a:p>
            <a:r>
              <a:rPr lang="en-US" b="1" dirty="0"/>
              <a:t>• Applications include surveillance and child-safety-oriented monitoring.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5879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722A4-EDD8-BAA1-11F4-30854E86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4E6D-0376-4366-613C-D6679DA4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10089-DB12-D049-B9C9-1F6BD31B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E2C8E-502B-5A11-FC36-F96536F3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CE56C-51D6-6714-FAA5-0D1B1D2C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5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58A490D1-4072-E0D4-F5FC-AE7C48029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CB9A03D-7B3C-9615-F8A4-422B0E3FA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+mj-lt"/>
              </a:rPr>
              <a:t> Manual monitoring of videos is time-consuming and inconsistent.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+mj-lt"/>
              </a:rPr>
              <a:t> Unsafe activities may occur briefly and be missed easily.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+mj-lt"/>
              </a:rPr>
              <a:t> Human attention decreases during long surveillance sessions.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+mj-lt"/>
              </a:rPr>
              <a:t> Crowded scenes and motion blur increase monitoring difficulty.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+mj-lt"/>
              </a:rPr>
              <a:t> Simple rule-based systems are unreliable for activity classification.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+mj-lt"/>
              </a:rPr>
              <a:t>AI systems can learn visual and temporal activity patterns automatically.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+mj-lt"/>
              </a:rPr>
              <a:t>Intelligent monitoring systems are required for automated Safe/Unsafe analysis.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A8F293-979B-E07A-C105-4CEBF901A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37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3E5E-6467-CCD2-772D-58DFD6374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6E06-8F6E-CB6D-A0BA-2B33C2F3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70AA9-B5C3-4B5A-A527-286A0038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3A35F-DBD6-31B2-16C3-7E57C324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3AC71-3E54-86EB-FEE5-C1478DBB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DFDE17E5-ADE8-132E-0CFA-B05EE7F8B0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5512F29-E4A5-8E38-9FFB-3FC004A81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Build a complete Safe and Unsafe video classification system.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Extract multimodal visual features from uploaded videos.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Convert videos into fixed-length feature vectors.                                       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Train and compare multiple machine learning classifiers.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Apply stacking ensemble learning for robust prediction.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Generate explainable outputs and visualizations.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Build a </a:t>
            </a:r>
            <a:r>
              <a:rPr lang="en-IN" b="1" dirty="0" err="1">
                <a:latin typeface="+mj-lt"/>
              </a:rPr>
              <a:t>Streamlit</a:t>
            </a:r>
            <a:r>
              <a:rPr lang="en-IN" b="1" dirty="0">
                <a:latin typeface="+mj-lt"/>
              </a:rPr>
              <a:t> web application for uploaded-video prediction.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F9106F-6702-8B5E-6C1E-F00FB53B4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4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510B2-F4A1-BCC3-61C1-FB495C215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5EB3-4B6B-A53E-8D15-97F29160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9CB8F-8970-6927-1027-90209120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AE980-BCE6-1E0C-7470-C3F265F17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40537-4FB3-F855-FF25-037F80E6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7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2EFC9E51-F969-191C-20A9-65CFA236DB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8FB230F-E67F-3A5A-007E-46866AC03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• YOLO research inspired object-detection and localization concepts.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• </a:t>
            </a:r>
            <a:r>
              <a:rPr lang="en-US" sz="1600" b="1" dirty="0" err="1">
                <a:latin typeface="+mj-lt"/>
              </a:rPr>
              <a:t>ResNet</a:t>
            </a:r>
            <a:r>
              <a:rPr lang="en-US" sz="1600" b="1" dirty="0">
                <a:latin typeface="+mj-lt"/>
              </a:rPr>
              <a:t> research inspired CNN embedding feature extraction.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• Two-Stream CNN research inspired motion-analysis concepts.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• </a:t>
            </a:r>
            <a:r>
              <a:rPr lang="en-US" sz="1600" b="1" dirty="0" err="1">
                <a:latin typeface="+mj-lt"/>
              </a:rPr>
              <a:t>MobileNet</a:t>
            </a:r>
            <a:r>
              <a:rPr lang="en-US" sz="1600" b="1" dirty="0">
                <a:latin typeface="+mj-lt"/>
              </a:rPr>
              <a:t> research inspired lightweight transfer-learning architectures.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• Stacking Generalization research inspired ensemble-learning methodology.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• SHAP and LIME research inspired explainable AI concepts.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• Human Action Recognition research inspired activity-analysis techniques</a:t>
            </a:r>
            <a:r>
              <a:rPr lang="en-US" sz="1600" dirty="0">
                <a:latin typeface="+mj-lt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A0FC74-D2D7-A7BE-636A-F2B95FDC4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7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BEAF-A229-A54F-805D-EFDA065C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D410-8ED7-5BF0-53DA-EA16EC78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28588"/>
            <a:ext cx="10858500" cy="290156"/>
          </a:xfrm>
        </p:spPr>
        <p:txBody>
          <a:bodyPr>
            <a:noAutofit/>
          </a:bodyPr>
          <a:lstStyle/>
          <a:p>
            <a:r>
              <a:rPr lang="en-IN" sz="2000" dirty="0"/>
              <a:t>COMPLETE PROJECT PIPELINE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E808AEA-D3CF-D7FE-C0E2-9BF0BA78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/>
              <a:t>     </a:t>
            </a:r>
            <a:r>
              <a:rPr lang="en-IN" sz="2000" dirty="0"/>
              <a:t>[] </a:t>
            </a:r>
            <a:br>
              <a:rPr lang="en-IN" sz="2000" dirty="0"/>
            </a:br>
            <a:r>
              <a:rPr lang="en-IN" sz="2000" dirty="0"/>
              <a:t>  ↓ </a:t>
            </a:r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  ↓ </a:t>
            </a:r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↓</a:t>
            </a:r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↓</a:t>
            </a:r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↓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7E8E5-63F6-E521-454F-DF50021F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B8A56-35DA-E1DB-2B1C-2C1FD20E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71245" y="6370497"/>
            <a:ext cx="3584830" cy="358915"/>
          </a:xfrm>
        </p:spPr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A6E32-0535-9B72-43AE-B09A65B5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70D09E33-9FB3-4AC5-825D-6D50785452DC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15B18B91-537F-CC6A-2BB0-13315CBD23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DAB328-C455-AC7C-9F9E-E1CDCBFEF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162A324-5D5D-7151-10F6-A25FA8ADFD35}"/>
              </a:ext>
            </a:extLst>
          </p:cNvPr>
          <p:cNvSpPr/>
          <p:nvPr/>
        </p:nvSpPr>
        <p:spPr>
          <a:xfrm>
            <a:off x="4990392" y="3874020"/>
            <a:ext cx="2198516" cy="477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Feature Fusion</a:t>
            </a:r>
            <a:endParaRPr lang="en-IN" sz="2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7E04CC-7C07-C93F-FEB7-EB5E38974048}"/>
              </a:ext>
            </a:extLst>
          </p:cNvPr>
          <p:cNvSpPr/>
          <p:nvPr/>
        </p:nvSpPr>
        <p:spPr>
          <a:xfrm>
            <a:off x="5190590" y="1848147"/>
            <a:ext cx="2124609" cy="6677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Preprocessing</a:t>
            </a:r>
            <a:endParaRPr lang="en-IN" sz="2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65264B-08B2-DF4B-21BC-5C8AE3DF7B08}"/>
              </a:ext>
            </a:extLst>
          </p:cNvPr>
          <p:cNvSpPr/>
          <p:nvPr/>
        </p:nvSpPr>
        <p:spPr>
          <a:xfrm>
            <a:off x="4990392" y="2918843"/>
            <a:ext cx="2465683" cy="5769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Feature Extraction</a:t>
            </a:r>
            <a:endParaRPr lang="en-IN" sz="2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F0C465-E6DC-6834-5DEA-AD899638EDDC}"/>
              </a:ext>
            </a:extLst>
          </p:cNvPr>
          <p:cNvSpPr/>
          <p:nvPr/>
        </p:nvSpPr>
        <p:spPr>
          <a:xfrm>
            <a:off x="5245158" y="690521"/>
            <a:ext cx="1931350" cy="7178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/>
              <a:t>Video Input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87FBA9-751F-D49B-47B9-EA214CF250F3}"/>
              </a:ext>
            </a:extLst>
          </p:cNvPr>
          <p:cNvSpPr/>
          <p:nvPr/>
        </p:nvSpPr>
        <p:spPr>
          <a:xfrm>
            <a:off x="4812465" y="4797692"/>
            <a:ext cx="3045660" cy="6677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ML Models + Stacking</a:t>
            </a:r>
            <a:endParaRPr lang="en-IN" sz="2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FBCE6-58F1-3A6B-44DB-1FE877500379}"/>
              </a:ext>
            </a:extLst>
          </p:cNvPr>
          <p:cNvSpPr/>
          <p:nvPr/>
        </p:nvSpPr>
        <p:spPr>
          <a:xfrm>
            <a:off x="4812465" y="5794049"/>
            <a:ext cx="2743200" cy="6067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Safe / Unsafe Prediction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890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4BB6-A302-797B-549E-AB836BA4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E4EF-59AF-DF94-E258-E0B4F41C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1A2E0-7024-E5C3-EC82-9E9FA6C6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F16B-EC7C-F58C-F5DF-A347EAD4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84AEE-BF32-1D5B-CF4F-4423CAED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3BB40BB4-2B22-E15C-C6CF-6FA75893A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5623E7D-706C-4B5F-A76E-5180D1273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 The project uses a labelled Safe and Unsafe video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 Total processed videos used for classification: 497.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Safe videos: 250.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Unsafe videos: 247.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The dataset is nearly balanced across both classes. 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Balanced datasets reduce class bias during training.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• The dataset supports supervised binary classification.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CC4F3D-0894-3924-39CA-9ED6E07FB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  <p:pic>
        <p:nvPicPr>
          <p:cNvPr id="9" name="Picture 8" descr="dataset_distribution.png">
            <a:extLst>
              <a:ext uri="{FF2B5EF4-FFF2-40B4-BE49-F238E27FC236}">
                <a16:creationId xmlns:a16="http://schemas.microsoft.com/office/drawing/2014/main" id="{73F1CABC-BB63-A4C0-783D-EFFAE0D77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108" y="1905713"/>
            <a:ext cx="4160071" cy="277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06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BBDF-C2CA-FE0D-570A-31A8063ED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5D1E-B3DE-25C8-1BFA-152425E7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Frame Extraction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5BFDB-E2AE-AFFA-1E29-BBF5837C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07057-1D59-CFE5-2509-49B2D1DE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DE72F-4A6C-2AAB-0A1D-B4959EC9F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10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898E0CFA-1E8A-EB80-570F-B439B8BAB3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3831499-71BF-2A23-06D7-374A97D3D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• Videos contain multiple frames and varying durations.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• Representative frames are sampled from each video timeline.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• Frame sampling reduces computational complexity.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• Temporal coverage is preserved during frame extraction.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• Extracted frames act as visual evidence for classification.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• Frame-level information is later aggregated into video-level features.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• Frame extraction improves processing efficiency and stability.</a:t>
            </a:r>
            <a:endParaRPr lang="en-IN" b="1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5E3F47-087A-6829-05C1-0657F294B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055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E445-C418-2307-D5D7-30F53A98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900F2-D976-EF94-7950-28797CC1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Frame Resizing &amp; Pixel Normalization</a:t>
            </a:r>
            <a:br>
              <a:rPr lang="en-IN" dirty="0"/>
            </a:b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753F8-80C7-B9BA-5FE1-023271A9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F2DC6-BC92-CC1D-3AD9-6F1BA192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77EB7-C490-E8B2-87C8-90F8810E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11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2F7CB7DA-5ADB-70AF-39FC-8701EA2527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93E4053-AF5A-874A-0B97-6AEE0D306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All sampled frames are resized to 224×224 before CNN processing.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CNN architectures require fixed-dimensional input tensors.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Resizing ensures dimensional consistency across all videos.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Pixel normalization converts values from 0–255 into 0–1 range.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Normalization stabilizes CNN feature extraction.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Same-size inputs improve feature comparability.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Preprocessing improves overall model reliability and consistency.</a:t>
            </a:r>
            <a:endParaRPr lang="en-IN" sz="2000" b="1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7AAD92-6766-E141-6A73-0FE984A1A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  <p:pic>
        <p:nvPicPr>
          <p:cNvPr id="8" name="Content Placeholder 2" descr="resize_normalization_visual.png">
            <a:extLst>
              <a:ext uri="{FF2B5EF4-FFF2-40B4-BE49-F238E27FC236}">
                <a16:creationId xmlns:a16="http://schemas.microsoft.com/office/drawing/2014/main" id="{4888B899-C406-93DB-2F1A-15EB4017F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337" y="3255948"/>
            <a:ext cx="4583654" cy="151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500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F39F-A679-243A-1BD9-80868146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A822D-B93A-5724-86D2-CAE3C5E7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SAME-DIMENSION PROOF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9ED34-2E31-E47D-6909-0B5B23BB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9EDDA-94E0-E86F-56CD-988BFACD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606E7-6F6E-21A9-0851-72B1D048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08B62FC4-0F5C-7261-7CA6-03E8E38C8D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456B09-7188-CC0B-9D96-94C4A83AB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43C0E9-8047-D4A3-2CCA-A1E74E6AC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latin typeface="+mj-lt"/>
              </a:rPr>
              <a:t>• Every processed video becomes one fixed-length feature vector.</a:t>
            </a:r>
          </a:p>
          <a:p>
            <a:endParaRPr lang="en-IN" b="1" dirty="0">
              <a:latin typeface="+mj-lt"/>
            </a:endParaRPr>
          </a:p>
          <a:p>
            <a:r>
              <a:rPr lang="en-IN" b="1" dirty="0">
                <a:latin typeface="+mj-lt"/>
              </a:rPr>
              <a:t>• All processed videos contain the same feature columns.</a:t>
            </a:r>
          </a:p>
          <a:p>
            <a:endParaRPr lang="en-IN" b="1" dirty="0">
              <a:latin typeface="+mj-lt"/>
            </a:endParaRPr>
          </a:p>
          <a:p>
            <a:r>
              <a:rPr lang="en-IN" b="1" dirty="0">
                <a:latin typeface="+mj-lt"/>
              </a:rPr>
              <a:t>• Machine learning classifiers require fixed-dimensional input vectors.</a:t>
            </a:r>
          </a:p>
          <a:p>
            <a:endParaRPr lang="en-IN" b="1" dirty="0">
              <a:latin typeface="+mj-lt"/>
            </a:endParaRPr>
          </a:p>
          <a:p>
            <a:r>
              <a:rPr lang="en-IN" b="1" dirty="0">
                <a:latin typeface="+mj-lt"/>
              </a:rPr>
              <a:t>• Resizing standardizes frame dimensions across videos.</a:t>
            </a:r>
          </a:p>
          <a:p>
            <a:endParaRPr lang="en-IN" b="1" dirty="0">
              <a:latin typeface="+mj-lt"/>
            </a:endParaRPr>
          </a:p>
          <a:p>
            <a:r>
              <a:rPr lang="en-IN" b="1" dirty="0">
                <a:latin typeface="+mj-lt"/>
              </a:rPr>
              <a:t>• Temporal aggregation standardizes varying video durations.</a:t>
            </a:r>
          </a:p>
          <a:p>
            <a:endParaRPr lang="en-IN" b="1" dirty="0">
              <a:latin typeface="+mj-lt"/>
            </a:endParaRPr>
          </a:p>
          <a:p>
            <a:r>
              <a:rPr lang="en-IN" b="1" dirty="0">
                <a:latin typeface="+mj-lt"/>
              </a:rPr>
              <a:t>• Z-score standardization normalizes feature scales.</a:t>
            </a:r>
          </a:p>
          <a:p>
            <a:endParaRPr lang="en-IN" b="1" dirty="0">
              <a:latin typeface="+mj-lt"/>
            </a:endParaRPr>
          </a:p>
          <a:p>
            <a:r>
              <a:rPr lang="en-IN" b="1" dirty="0">
                <a:latin typeface="+mj-lt"/>
              </a:rPr>
              <a:t>• All videos become mathematically comparable after preprocessing.</a:t>
            </a:r>
          </a:p>
        </p:txBody>
      </p:sp>
    </p:spTree>
    <p:extLst>
      <p:ext uri="{BB962C8B-B14F-4D97-AF65-F5344CB8AC3E}">
        <p14:creationId xmlns:p14="http://schemas.microsoft.com/office/powerpoint/2010/main" val="983120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8472-CB8D-03BA-C718-8554BF92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38DA-E291-41D8-7710-715E252D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CNN Feature Extraction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EB841-B8EC-B2F2-DEE6-AF18FFA5D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AF770-FF69-13EB-9DB6-E0D8880F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3BB49-1434-4580-2543-74CE912DC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13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C47B7442-B924-4108-604E-B1BEDA3E4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82A7D4C-087C-C8AA-EC02-48B6B138D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Transfer learning is used because the dataset size is limited.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</a:t>
            </a:r>
            <a:r>
              <a:rPr lang="en-US" sz="2000" dirty="0" err="1">
                <a:latin typeface="+mj-lt"/>
              </a:rPr>
              <a:t>ResNet</a:t>
            </a:r>
            <a:r>
              <a:rPr lang="en-US" sz="2000" dirty="0">
                <a:latin typeface="+mj-lt"/>
              </a:rPr>
              <a:t> generate CNN embedding features.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CNN embeddings capture high-level visual patterns automatically.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The project extracts 512 descriptive CNN features.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Features represent texture, object, activity, and safety context.        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CNN embeddings reduce manual feature engineering requirements.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Transfer learning improves classification stability and efficiency.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 Frames  -&gt; CNN Model(Resnet) -&gt;512 features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FE94B6-F783-9E70-98AB-826DD2C9C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93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0405-461C-1522-F6B8-2F871A1DD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E0D4-FC4C-CBA0-B19A-CDC462F89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82" y="487503"/>
            <a:ext cx="10858500" cy="900112"/>
          </a:xfrm>
        </p:spPr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Feature Group table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D0758-6085-9637-ABE6-D4A8F3D1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44FF6-FD8F-622C-38E2-9C528DB46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3AF29-322C-09DE-0022-E9D14257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14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F4BCF546-168A-F02C-FCFE-127AECBEB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B126FD9-9548-BB6D-6AAD-971C2BBBF1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1356402"/>
              </p:ext>
            </p:extLst>
          </p:nvPr>
        </p:nvGraphicFramePr>
        <p:xfrm>
          <a:off x="899682" y="1913007"/>
          <a:ext cx="10858500" cy="1828800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3399531032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4243704007"/>
                    </a:ext>
                  </a:extLst>
                </a:gridCol>
              </a:tblGrid>
              <a:tr h="34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18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1–128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Edge / Texture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921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129–256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Object /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09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257–384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Scene /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673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385–512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Safety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142747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2262D7E8-B8C4-2F01-2696-C6E0B47E0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22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ACC7-42D3-04C5-5A21-AC572C033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63C5-A1DC-8615-6295-017866EF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YOLO / OBJECT FEATURES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51698-1072-6AFA-C716-B9B2C41F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BBEDF-83CE-4027-73BF-27B43349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9712F-1C7F-E656-7EE1-3FD10420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15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FCEBF407-68A1-393A-03EE-5F8C65B23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87E8B47-E151-D0B5-9404-ED4B014FF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+mj-lt"/>
              </a:rPr>
              <a:t>• YOLO-inspired object analysis provides contextual information.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+mj-lt"/>
              </a:rPr>
              <a:t>• Person count supports crowd and interaction analysis.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+mj-lt"/>
              </a:rPr>
              <a:t>• Crowd density estimates environmental complexity.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+mj-lt"/>
              </a:rPr>
              <a:t>• Object confidence improves scene understanding.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+mj-lt"/>
              </a:rPr>
              <a:t>• Suspicious-object proxy scores add contextual evidence.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+mj-lt"/>
              </a:rPr>
              <a:t>• Object-level understanding improves classification robustness.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+mj-lt"/>
              </a:rPr>
              <a:t>• Final prediction depends on fused multimodal evidence.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EDD62A-06E7-DD28-F7C9-5D41EDC29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9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FAD8-F6F0-6016-E83E-DB1E4D62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21A6-492C-72A6-5388-7D21717F1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EXPRESSION &amp; ACTIVITY FEATURES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9858E-E60A-078A-9BDF-5CD5AEFB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Date:18-05:2026</a:t>
            </a:r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6F7B9-729F-E56B-9415-9AEB9B71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915AF-F5B6-3890-72A6-B4C9154C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16</a:t>
            </a:fld>
            <a:endParaRPr lang="en-IN"/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id="{F8C04E87-47B7-00FD-EA90-0A205E90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FA29BCD-07CE-671D-85F1-D097610A4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Expression features act as lightweight behavior proxies.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Aggression scores estimate suspicious activity patterns.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Stress and fear proxies support activity understanding.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Activity features summarize movement intensity and behavior.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Temporal smoothing reduces frame-level fluctuations.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Expression features support explainable prediction logic.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• Behavioral cues improve Safe and Unsafe classification.</a:t>
            </a:r>
            <a:endParaRPr lang="en-IN" sz="2000" b="1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F72BEB-8086-7B76-4E6B-D509BEFF2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9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02CB-3FA2-480C-9C2E-C74C100D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Fusion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6710D-75CE-42EE-96D9-6C7AB3973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Multiple feature groups are combined into one unified vector.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CNN features capture high-level visual semantics.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Motion features capture temporal behavior patterns.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YOLO features provide object-level contextual information.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Expression and activity features provide behavioral evidence.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Multimodal fusion improves classification robustness.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Combined features improve Safe and Unsafe separation capability.</a:t>
            </a:r>
            <a:endParaRPr lang="en-IN" sz="2400" b="1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E737-FAFF-4790-95C5-09464998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18-05-2026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0A33D-4A05-427D-91BB-603E00320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1D79B-6734-482A-A162-5CB89A17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17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61F476FE-CE80-4FDB-B6E8-ABC9547284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745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B518-39FA-3759-B37C-544D769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FC19-343B-C94C-0A6D-D7BE0945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STANDARDIZATION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E7223-DD1C-E313-2F62-92CAE9C8D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Different features naturally use different numeric ranges.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CNN embeddings, motion values, and object scores are not directly comparable.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Z-score standardization normalizes feature distributions.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Standardization centers features around zero.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SVM and KNN require normalized feature scales.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Feature scaling stabilizes classifier learning.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• Standardization prevents large-value features from dominating prediction.</a:t>
            </a:r>
            <a:endParaRPr lang="en-IN" sz="2400" b="1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BD216-03C0-BF51-2971-6DD390FA2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5443D-BA89-E36A-F133-28DBA2E3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9FE47-CC00-1915-0884-29063881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18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5FFFFEAA-74FA-0460-64E7-ED6469A31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78612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5593-3973-6630-D7E5-D9E727EE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CBEB-66EA-54A8-A622-8A6F991D0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CLASSIFIERS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DF73F-BF40-C316-97B8-B597C4A7A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Multiple classifiers are trained and compared on the same feature set.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Logistic Regression acts as a linear baseline classifier.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Decision Tree supports interpretable rule-based learning.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Random Forest improves robustness using tree ensembles.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SVM performs strongly on high-dimensional CNN embeddings.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</a:t>
            </a:r>
            <a:r>
              <a:rPr lang="en-US" sz="2400" dirty="0" err="1">
                <a:latin typeface="+mj-lt"/>
              </a:rPr>
              <a:t>XGBoost</a:t>
            </a:r>
            <a:r>
              <a:rPr lang="en-US" sz="2400" dirty="0">
                <a:latin typeface="+mj-lt"/>
              </a:rPr>
              <a:t> performs boosted ensemble learning on tabular features.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MLP provides neural-network-based classification for fused features.</a:t>
            </a:r>
            <a:endParaRPr lang="en-IN" sz="24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49BF-CD35-0598-22D4-BCBBE7BF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DD11D-C12E-A003-8434-692DE8B9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48DF6-27DC-94C2-ACB7-FDEEA877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19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F5081144-2EF4-D7A3-5BBD-EFFF136BD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9844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E6739-CF5A-011C-4BB9-989405BE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1A06-620D-1698-E0C1-2A64175E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 VISUALIZATION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95202-A059-1D24-901D-CFA8106E6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Decision Tree splits data using feature thresholds.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Tree-based learning supports interpretable classification.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Decision Tree acts as a baseline comparison classifier.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Rule-based learning improves explainability.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Feature thresholds guide Safe and Unsafe prediction.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Random Forest extends the concept using multiple trees.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• Tree visualization improves understanding of classification logic.</a:t>
            </a:r>
            <a:endParaRPr lang="en-IN" sz="20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11380-4415-3FEB-0987-06A7FDDA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200A1-636C-94DA-4E4E-E485CEE8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BC0A0-FE96-A678-521F-80B939F8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20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0ABAC034-325B-47AC-D00C-B8BADE9ED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9563F-A8A7-24B6-89C9-806A82C9C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951" y="2350094"/>
            <a:ext cx="3956702" cy="20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44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EB3C-F7ED-37EF-2755-0734FFC5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36C6-F8F9-5A3A-FADB-3EE25976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STACKING ENSEMBLE LEARNING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891CE-78CE-8664-811B-C61E21527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Stacking combines predictions from multiple classifiers.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Random Forest, SVM, </a:t>
            </a:r>
            <a:r>
              <a:rPr lang="en-US" sz="2400" dirty="0" err="1">
                <a:latin typeface="+mj-lt"/>
              </a:rPr>
              <a:t>XGBoost</a:t>
            </a:r>
            <a:r>
              <a:rPr lang="en-US" sz="2400" dirty="0">
                <a:latin typeface="+mj-lt"/>
              </a:rPr>
              <a:t>, and MLP act as base learners.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Logistic Regression acts as the meta learner.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Probability outputs are combined for final prediction.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Different models learn different decision boundaries.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Ensemble learning improves robustness and generalization.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Stacking reduces weaknesses of individual classifiers.</a:t>
            </a:r>
            <a:endParaRPr lang="en-IN" sz="24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D7611-DBF7-D152-52FD-FE19BE05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4D62D-A0FA-4EF6-F338-F18DE472B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26E48-52D4-E584-532A-E9CB53E48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21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F6325950-712D-FF86-E229-0E74AC75BC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5360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6D2C-FED5-4B94-95DC-EF2EE386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D558-814C-5460-7773-6590B5E5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CLASSIFIER COMPARISON RESULTS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0FF37-F9BC-38DE-37DA-847195679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Multiple classifiers were evaluated using the same standardized feature vectors.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SVM achieved the best accuracy of 84.67%.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Stacking classifier achieved 83.33% accuracy.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KNN and MLP also performed competitively.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ROC-AUC values confirm strong classification capability.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Ensemble learning improved overall robustness.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Classifier comparison validates model-selection reliability.</a:t>
            </a:r>
            <a:endParaRPr lang="en-IN" sz="24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13992-C1FD-B3D5-8746-C8A40A2F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4F4B1-9F4E-2C9A-E2FA-E6BE6C83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95707-B43B-591C-A934-DA0F960B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22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D5187B86-1FDA-2B5B-9BB1-393824B24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352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FF9F-7551-1FF3-B9B8-8C6206C9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4DFD-5169-3A7A-BE44-F0842A4C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398A1-362E-C9DD-CD97-B8946B22F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Confusion matrix evaluates class-wise prediction performance.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True Positives and True Negatives represent correct predictions.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False Positives represent Safe predicted as Unsafe.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False Negatives represent Unsafe predicted as Safe.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Reducing false negatives is important for safety systems.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Error analysis improves understanding of model </a:t>
            </a:r>
            <a:r>
              <a:rPr lang="en-IN" sz="2400" dirty="0" err="1">
                <a:latin typeface="+mj-lt"/>
              </a:rPr>
              <a:t>behavior</a:t>
            </a:r>
            <a:r>
              <a:rPr lang="en-IN" sz="24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Confusion matrices support reliable result interpretation.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C6476-1DC2-2860-B235-F45AF4415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F2387-4E0C-8FE4-5C5A-2A2BB095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518CB-B97D-AB99-55A7-97C995CD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23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B0220601-314F-FFA6-25AC-B4CB97CA9A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9569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BC08B-25A3-45FF-CB6E-3D47EE5D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BC94E-C759-4982-8111-01F058FC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ROC CURVE &amp; AUC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3D61D-F216-9227-AE4E-893DA0BA3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ROC curve evaluates classifier discrimination capability.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ROC compares true positive rate against false positive rate.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AUC summarizes Safe and Unsafe separation quality.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Higher AUC values indicate stronger classification performance.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ROC analysis is threshold independent.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SVM achieved strong ROC-AUC performance.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ROC curves support reliable classifier comparison.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42CF-6A6A-2AEE-F016-7184055CE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0498D-EE19-5D88-5BA6-7DD6DFA1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23EF-0FA1-F25E-EF37-46B26FDC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24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D7FC39F3-2013-68A7-47E4-AB2544F3ED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71997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11CF-17E2-94C0-DF31-E1FB0647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96AA-A732-083A-7E94-9C5BDBC5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Cross-Validation &amp; Generalization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86D06-1890-F21A-4232-E7D1D4EA7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5-fold cross-validation is used to evaluate model generalization.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Cross-validation reduces dependence on one train-test split.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Multiple dataset splits improve evaluation reliability.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SVM achieved the best cross-validation accuracy.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Low standard deviation indicates stable performance.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Cross-validation helps identify overfitting risk.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j-lt"/>
              </a:rPr>
              <a:t>• Generalization analysis improves project reliability.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DBDA4-98AC-3A7F-AAC0-A1E843DE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68A50-1606-8238-4DEA-7BC43CF0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7E5C7-A738-FD85-8F64-03A7B14E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25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B7AB1F60-81CC-8F6D-41D2-29FF9EEC4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68288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D85A-2EB8-3244-1F83-04298DB2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8B44-1186-C56B-FABC-9553F7A5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  <a:br>
              <a:rPr lang="en-IN" dirty="0"/>
            </a:b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91715-CC45-A038-1AF8-338A0EC31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Lightweight architecture suitable for limited datasets.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Transfer learning improves feature extraction quality.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Feature fusion improves classification robustness.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Stacking ensemble learning improves prediction stability.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Explainable AI improves interpretability.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</a:t>
            </a:r>
            <a:r>
              <a:rPr lang="en-US" sz="2400" dirty="0" err="1">
                <a:latin typeface="+mj-lt"/>
              </a:rPr>
              <a:t>Streamlit</a:t>
            </a:r>
            <a:r>
              <a:rPr lang="en-US" sz="2400" dirty="0">
                <a:latin typeface="+mj-lt"/>
              </a:rPr>
              <a:t> deployment supports interactive demonstration.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The project is suitable for academic and surveillance applications.</a:t>
            </a:r>
            <a:endParaRPr lang="en-IN" sz="24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AF0A7-3D92-D038-7C4C-D90632C9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55BEA-D10A-2EE2-19FD-1597A3D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DCBB3-C286-7914-7EF8-A0C25E58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26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E1FA5F62-61B5-66EA-E40E-19D1D6826F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3344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42EE-F88D-A8C7-ED8B-21091BF2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9EFD-0C77-F1D7-9220-2308AD4CC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3D23D-6E65-3A4B-B46F-D16BF43C2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Larger datasets can improve generalization performance.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Real-time video-stream integration can be added.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Custom YOLO models can improve object understanding.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CNN-LSTM architectures can improve temporal learning.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Cloud deployment can improve accessibility.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Stronger activity-recognition models can be explored.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Explainability methods can be further improved.</a:t>
            </a:r>
            <a:endParaRPr lang="en-IN" sz="24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8DC75-93E8-5D7F-D21C-23E2B3DCB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39D80-5CB9-6FF6-DC15-89B1AEDC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4C1FC-A62F-3F9A-BFB8-C11719FD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27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A0F573D5-8926-D841-54BE-5A24DD7269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1087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B7F4-0180-4895-10DA-D7B5CA18E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48AD2-4E93-560C-CEB4-C55F9441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E714-9C0F-CE2D-DAB5-64E831337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130300"/>
            <a:ext cx="11367477" cy="5003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The project successfully implements Safe and Unsafe video classification.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CNN embeddings capture meaningful visual patterns automatically.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Motion and object features improve activity understanding.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Feature fusion improves multimodal classification robustness.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SVM and Stacking achieved strong classification performance.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Cross-validation supports acceptable model generalization.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• The project demonstrates a complete ML/CV workflow from preprocessing to deployment.</a:t>
            </a:r>
            <a:endParaRPr lang="en-IN" sz="24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779A-C2D3-6042-ACA8-34A9E30B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Date:18-05-2026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3C3B4-322C-96AC-1E31-7DC93E3B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A0C1B-2DA5-B432-65F9-A020ABAD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28</a:t>
            </a:fld>
            <a:endParaRPr lang="en-IN" dirty="0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561DFCE2-357C-F652-1120-4D684C0359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9700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9B43-5752-4A9A-A3B5-E96BEAB8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DED9E-DE7C-4982-A770-55FA20F65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sz="2400" dirty="0">
                <a:latin typeface="+mj-lt"/>
              </a:rPr>
              <a:t>[1]. A. Ur Rehman, S. B. </a:t>
            </a:r>
            <a:r>
              <a:rPr lang="en-IN" sz="2400" dirty="0" err="1">
                <a:latin typeface="+mj-lt"/>
              </a:rPr>
              <a:t>Belhaouari</a:t>
            </a:r>
            <a:r>
              <a:rPr lang="en-IN" sz="2400" dirty="0">
                <a:latin typeface="+mj-lt"/>
              </a:rPr>
              <a:t>, M. A. Kabir and A. Khan, “On the Use of Deep Learning for Video Classification,” Applied Sciences, vol. 13, no. 4, 2023.</a:t>
            </a:r>
          </a:p>
          <a:p>
            <a:r>
              <a:rPr lang="en-IN" sz="2400" dirty="0">
                <a:latin typeface="+mj-lt"/>
              </a:rPr>
              <a:t>[2]. T. Diwan, G. Anirudh and J. V. </a:t>
            </a:r>
            <a:r>
              <a:rPr lang="en-IN" sz="2400" dirty="0" err="1">
                <a:latin typeface="+mj-lt"/>
              </a:rPr>
              <a:t>Tembhurne</a:t>
            </a:r>
            <a:r>
              <a:rPr lang="en-IN" sz="2400" dirty="0">
                <a:latin typeface="+mj-lt"/>
              </a:rPr>
              <a:t>, “Object Detection using YOLO: Challenges, Architectural Successors, Datasets and Applications,” Multimedia Tools and Applications, 2023.</a:t>
            </a:r>
          </a:p>
          <a:p>
            <a:r>
              <a:rPr lang="en-IN" sz="2400" dirty="0">
                <a:latin typeface="+mj-lt"/>
              </a:rPr>
              <a:t>[3]. K. He, X. Zhang, S. Ren and J. Sun, “Deep Residual Learning for Image Recognition,” Proceedings of the IEEE Conference on Computer Vision and Pattern Recognition (CVPR), 2016.</a:t>
            </a:r>
          </a:p>
          <a:p>
            <a:r>
              <a:rPr lang="en-IN" sz="2400" dirty="0">
                <a:latin typeface="+mj-lt"/>
              </a:rPr>
              <a:t>[4]. H. Ye, Z. Wu, R. W. Zhao, X. Wang and Y. G. Jiang, “Evaluating Two-Stream CNN for Video Classification,” Proceedings of the 5th ACM International Conference on Multimedia Retrieval, 2015.</a:t>
            </a:r>
          </a:p>
          <a:p>
            <a:r>
              <a:rPr lang="en-US" sz="2400" dirty="0"/>
              <a:t>[5]. M. P. </a:t>
            </a:r>
            <a:r>
              <a:rPr lang="en-US" sz="2400" dirty="0" err="1"/>
              <a:t>Sesmero</a:t>
            </a:r>
            <a:r>
              <a:rPr lang="en-US" sz="2400" dirty="0"/>
              <a:t>, A. I. Ledezma and A. Sanchis, “Generating Ensembles of Heterogeneous Classifiers Using Stacked Generalization,” Wiley Interdisciplinary Reviews: Data Mining and Knowledge Discovery, vol. 5, no. 1, pp. 21–34, 2015.</a:t>
            </a:r>
          </a:p>
          <a:p>
            <a:r>
              <a:rPr lang="en-US" sz="2400" dirty="0"/>
              <a:t>6]. C. I. Nwakanma, E. C. </a:t>
            </a:r>
            <a:r>
              <a:rPr lang="en-US" sz="2400" dirty="0" err="1"/>
              <a:t>Nkoro</a:t>
            </a:r>
            <a:r>
              <a:rPr lang="en-US" sz="2400" dirty="0"/>
              <a:t> and L. A. C. </a:t>
            </a:r>
            <a:r>
              <a:rPr lang="en-US" sz="2400" dirty="0" err="1"/>
              <a:t>Ahakonye</a:t>
            </a:r>
            <a:r>
              <a:rPr lang="en-US" sz="2400" dirty="0"/>
              <a:t>, “Explainable Activity Detection and Classification: SHAP vs LIME,” Korean Institute of Communications and Information Sciences Conference, 2023.</a:t>
            </a:r>
            <a:br>
              <a:rPr lang="en-US" sz="2400" dirty="0"/>
            </a:br>
            <a:endParaRPr lang="en-US" sz="2400" dirty="0"/>
          </a:p>
          <a:p>
            <a:endParaRPr lang="en-IN" sz="2400" dirty="0">
              <a:latin typeface="+mj-lt"/>
            </a:endParaRPr>
          </a:p>
          <a:p>
            <a:endParaRPr lang="en-IN" sz="2400" dirty="0">
              <a:latin typeface="+mj-lt"/>
            </a:endParaRPr>
          </a:p>
          <a:p>
            <a:endParaRPr lang="en-IN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00450-1635-4252-A70A-69955134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18-05-2026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08BC0-2EAA-46B1-B8E8-D6777D25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5CF5F-DAA2-489A-9B45-E4CF3FBB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29</a:t>
            </a:fld>
            <a:endParaRPr lang="en-IN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B776B01D-FD6F-4182-8A00-AB72336A4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6F573D-5CCE-F101-0805-89C5472E9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01" y="5333832"/>
            <a:ext cx="2032191" cy="10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12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AF76-CD2B-03A9-3385-A422D42D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E344-2190-C44D-1265-A0A03311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64941-1BF7-16E6-B522-FD8B4B037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dirty="0"/>
              <a:t>[7]. A. Ullah, J. Ahmad, K. Muhammad, M. Sajjad and S. W. Baik, “Action Recognition in Video Sequences Using Deep Bi-Directional LSTM with CNN Features,” IEEE Access, vol. 6, pp. 1155–1166, 2017.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[8]. P. Pareek and A. Thakkar, “A Survey on Video-Based Human Action Recognition: Recent Updates, Datasets, Challenges, and Applications,” Artificial Intelligence Review, vol. 54, pp. 2259–2322, 2021.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[9]. F. U. M. Ullah, M. S. Obaidat, A. Ullah, K. Muhammad and V. H. C. de Albuquerque, “A Comprehensive Review on Vision-Based Violence Detection in Surveillance Videos,” ACM Computing Surveys, vol. 56, no. 2, 2023.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[10]. M. Rani and M. Kumar, “</a:t>
            </a:r>
            <a:r>
              <a:rPr lang="en-IN" sz="2400" dirty="0" err="1"/>
              <a:t>MobileNet</a:t>
            </a:r>
            <a:r>
              <a:rPr lang="en-IN" sz="2400" dirty="0"/>
              <a:t> for Human Activity Recognition in Smart Surveillance Using Transfer Learning,” Neural Computing and Applications, Springer, 2025.</a:t>
            </a:r>
            <a:endParaRPr lang="en-IN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3156A-D6F2-DFB7-C5E0-A7E78499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18-05-2026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6BBC6-B2A8-272C-50C3-3ACB1AFB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. of AIE, SOC,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563F6-892A-EBFA-4160-0B09F7B6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30</a:t>
            </a:fld>
            <a:endParaRPr lang="en-IN"/>
          </a:p>
        </p:txBody>
      </p:sp>
      <p:pic>
        <p:nvPicPr>
          <p:cNvPr id="7" name="Picture 8" descr="Picture 8">
            <a:extLst>
              <a:ext uri="{FF2B5EF4-FFF2-40B4-BE49-F238E27FC236}">
                <a16:creationId xmlns:a16="http://schemas.microsoft.com/office/drawing/2014/main" id="{6030BF44-E4E6-0C29-FE29-43A929D1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901" y="95761"/>
            <a:ext cx="2548197" cy="65371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9546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90A46-A9E7-D62A-2F1C-169B3B1314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algn="ctr"/>
            <a:endParaRPr lang="en-US" sz="5100" b="1" dirty="0">
              <a:latin typeface="+mj-lt"/>
            </a:endParaRPr>
          </a:p>
          <a:p>
            <a:pPr algn="ctr"/>
            <a:endParaRPr lang="en-US" sz="5100" b="1" dirty="0">
              <a:latin typeface="+mj-lt"/>
            </a:endParaRPr>
          </a:p>
          <a:p>
            <a:pPr algn="ctr"/>
            <a:r>
              <a:rPr lang="en-US" sz="5100" b="1" dirty="0"/>
              <a:t>Thank You</a:t>
            </a:r>
            <a:endParaRPr lang="en-IN" sz="5100" b="1" dirty="0"/>
          </a:p>
          <a:p>
            <a:pPr algn="ctr"/>
            <a:endParaRPr lang="en-US" sz="5100" b="1" dirty="0">
              <a:latin typeface="+mj-lt"/>
            </a:endParaRPr>
          </a:p>
          <a:p>
            <a:pPr algn="ctr"/>
            <a:endParaRPr lang="en-US" sz="5100" b="1" dirty="0">
              <a:latin typeface="+mj-lt"/>
            </a:endParaRPr>
          </a:p>
          <a:p>
            <a:pPr algn="ctr"/>
            <a:endParaRPr lang="en-US" sz="5100" b="1" dirty="0">
              <a:latin typeface="+mj-lt"/>
            </a:endParaRPr>
          </a:p>
          <a:p>
            <a:endParaRPr lang="en-IN" sz="51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546B1-B5B2-FECA-061E-8E4BC1535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18-05-2026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DA5F4-7489-3782-6BB9-E85D0920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Dept.of EEE , ASE, Bengaluru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D64B0-DECE-2F3E-E543-D1DF1B1BC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9E33-9FB3-4AC5-825D-6D50785452DC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5849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0227商业">
      <a:dk1>
        <a:srgbClr val="000000"/>
      </a:dk1>
      <a:lt1>
        <a:srgbClr val="FFFFFF"/>
      </a:lt1>
      <a:dk2>
        <a:srgbClr val="17406D"/>
      </a:dk2>
      <a:lt2>
        <a:srgbClr val="5F88FD"/>
      </a:lt2>
      <a:accent1>
        <a:srgbClr val="15BCFF"/>
      </a:accent1>
      <a:accent2>
        <a:srgbClr val="007DDA"/>
      </a:accent2>
      <a:accent3>
        <a:srgbClr val="024DE2"/>
      </a:accent3>
      <a:accent4>
        <a:srgbClr val="7CCA62"/>
      </a:accent4>
      <a:accent5>
        <a:srgbClr val="FB5731"/>
      </a:accent5>
      <a:accent6>
        <a:srgbClr val="F49100"/>
      </a:accent6>
      <a:hlink>
        <a:srgbClr val="FBE43B"/>
      </a:hlink>
      <a:folHlink>
        <a:srgbClr val="85DFD0"/>
      </a:folHlink>
    </a:clrScheme>
    <a:fontScheme name="Costum 1">
      <a:majorFont>
        <a:latin typeface="Century Gothic"/>
        <a:ea typeface=""/>
        <a:cs typeface=""/>
      </a:majorFont>
      <a:minorFont>
        <a:latin typeface="Corbe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Modern project kickoff presentation</Template>
  <TotalTime>546</TotalTime>
  <Words>2486</Words>
  <Application>Microsoft Office PowerPoint</Application>
  <PresentationFormat>Widescreen</PresentationFormat>
  <Paragraphs>337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Century Gothic</vt:lpstr>
      <vt:lpstr>Corbel</vt:lpstr>
      <vt:lpstr>Times New Roman</vt:lpstr>
      <vt:lpstr>Custom</vt:lpstr>
      <vt:lpstr> </vt:lpstr>
      <vt:lpstr>Outline of Presentation</vt:lpstr>
      <vt:lpstr>Outline of Presentation</vt:lpstr>
      <vt:lpstr>Introduction  </vt:lpstr>
      <vt:lpstr>Problem Statement</vt:lpstr>
      <vt:lpstr>Objectives</vt:lpstr>
      <vt:lpstr>LITERATURE REVIEW</vt:lpstr>
      <vt:lpstr>COMPLETE PROJECT PIPELINE</vt:lpstr>
      <vt:lpstr>Dataset Overview</vt:lpstr>
      <vt:lpstr>Frame Extraction</vt:lpstr>
      <vt:lpstr>Frame Resizing &amp; Pixel Normalization </vt:lpstr>
      <vt:lpstr>SAME-DIMENSION PROOF</vt:lpstr>
      <vt:lpstr>CNN Feature Extraction</vt:lpstr>
      <vt:lpstr>Feature Group table</vt:lpstr>
      <vt:lpstr>YOLO / OBJECT FEATURES</vt:lpstr>
      <vt:lpstr>EXPRESSION &amp; ACTIVITY FEATURES</vt:lpstr>
      <vt:lpstr>Feature Fusion</vt:lpstr>
      <vt:lpstr>FEATURE STANDARDIZATION</vt:lpstr>
      <vt:lpstr>MACHINE LEARNING CLASSIFIERS</vt:lpstr>
      <vt:lpstr>DECISION TREE VISUALIZATION</vt:lpstr>
      <vt:lpstr>STACKING ENSEMBLE LEARNING</vt:lpstr>
      <vt:lpstr>CLASSIFIER COMPARISON RESULTS</vt:lpstr>
      <vt:lpstr>Confusion Matrix</vt:lpstr>
      <vt:lpstr>ROC CURVE &amp; AUC</vt:lpstr>
      <vt:lpstr>Cross-Validation &amp; Generalization</vt:lpstr>
      <vt:lpstr>Advantages </vt:lpstr>
      <vt:lpstr>FUTURE SCOPE</vt:lpstr>
      <vt:lpstr>CONCLUSION</vt:lpstr>
      <vt:lpstr>References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PPT</dc:title>
  <dc:creator>Sireesha K</dc:creator>
  <cp:lastModifiedBy>DONTAMSETTY YUVA AKHIL-[BL.SC.U4AIE24013]</cp:lastModifiedBy>
  <cp:revision>9</cp:revision>
  <dcterms:created xsi:type="dcterms:W3CDTF">2021-07-22T08:45:35Z</dcterms:created>
  <dcterms:modified xsi:type="dcterms:W3CDTF">2026-05-17T15:07:50Z</dcterms:modified>
</cp:coreProperties>
</file>